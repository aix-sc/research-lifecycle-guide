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B8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MUSASHINO UNIVERSITY  ─  FACULTY OF DATA SCIENCE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〔学習統合版〕 はじめの一歩から論文投稿まで ─ 既存資料の詳細を1冊に収録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3749040"/>
            <a:ext cx="1883664" cy="658368"/>
          </a:xfrm>
          <a:prstGeom prst="roundRect">
            <a:avLst>
              <a:gd name="adj" fmla="val 1388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80390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はじめの一歩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96896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44368" y="3749040"/>
            <a:ext cx="1883664" cy="658368"/>
          </a:xfrm>
          <a:prstGeom prst="roundRect">
            <a:avLst>
              <a:gd name="adj" fmla="val 1388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380390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44368" y="402336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研究開始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9744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57216" y="3749040"/>
            <a:ext cx="1883664" cy="658368"/>
          </a:xfrm>
          <a:prstGeom prst="roundRect">
            <a:avLst>
              <a:gd name="adj" fmla="val 1388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57216" y="380390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57216" y="402336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執筆型の決定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22592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70064" y="3749040"/>
            <a:ext cx="1883664" cy="658368"/>
          </a:xfrm>
          <a:prstGeom prst="roundRect">
            <a:avLst>
              <a:gd name="adj" fmla="val 1388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70064" y="380390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70064" y="402336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論文執筆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35440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582912" y="3749040"/>
            <a:ext cx="1883664" cy="658368"/>
          </a:xfrm>
          <a:prstGeom prst="roundRect">
            <a:avLst>
              <a:gd name="adj" fmla="val 1388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82912" y="380390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582912" y="402336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投稿前監査</a:t>
            </a:r>
            <a:endParaRPr lang="en-US" sz="13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502920"/>
            <a:ext cx="777240" cy="7772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31520" y="4892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B8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v3：全内容収録の自己完結版・5スキル体制。v6：ステージ名を「執筆型の決定」「論文執筆」に改称し、literature-researcher（虎の巻の探索担当）を追加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31520" y="54864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⬇ Skills の取得: https://github.com/aix-sc/research-lifecycle-guide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93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v7  ／  2026-07-09  ／  JA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TL;DR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1枚でわかる本ガイド ─ 5スキル体制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611880" cy="1572768"/>
          </a:xfrm>
          <a:prstGeom prst="roundRect">
            <a:avLst>
              <a:gd name="adj" fmla="val 4651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1554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研究自体に集中しよう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22376" y="2066544"/>
            <a:ext cx="3172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研究「周辺」のタスクは型として先に修める。Phase 01〜06 を順番どおりに実行することが最重要。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88536" y="1371600"/>
            <a:ext cx="3611880" cy="1572768"/>
          </a:xfrm>
          <a:prstGeom prst="roundRect">
            <a:avLst>
              <a:gd name="adj" fmla="val 4651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9704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928616" y="1554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論文は「型」で書く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07992" y="2066544"/>
            <a:ext cx="3172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世界標準は IMRAD。アブストと1章は7文法で閉世界を作る。箱テンプレ5章は 型A/B × EJC系 のみ。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74152" y="1371600"/>
            <a:ext cx="3611880" cy="1572768"/>
          </a:xfrm>
          <a:prstGeom prst="roundRect">
            <a:avLst>
              <a:gd name="adj" fmla="val 4651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714232" y="1554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5つのSkillに任せる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93608" y="2066544"/>
            <a:ext cx="3172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starter＝研究開始、proposer＝計画書、compiler v2＝執筆＋監査、文献は researcher（探索）と reviewer（検証）が分業。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 × リソースマップ（3スキル体制）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589520" y="320040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📖 資料　</a:t>
            </a:r>
            <a:pPr algn="r" indent="0" marL="0">
              <a:buNone/>
            </a:pPr>
            <a:r>
              <a:rPr lang="en-US" sz="105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Skill　</a:t>
            </a:r>
            <a:pPr algn="r" indent="0" marL="0">
              <a:buNone/>
            </a:pPr>
            <a:r>
              <a:rPr lang="en-US" sz="10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📄 テンプレ（v0＝初期テンプレート版）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611880"/>
            <a:ext cx="2167128" cy="2606040"/>
          </a:xfrm>
          <a:prstGeom prst="roundRect">
            <a:avLst>
              <a:gd name="adj" fmla="val 337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" y="3739896"/>
            <a:ext cx="1911096" cy="512064"/>
          </a:xfrm>
          <a:prstGeom prst="roundRect">
            <a:avLst>
              <a:gd name="adj" fmla="val 10714"/>
            </a:avLst>
          </a:prstGeom>
          <a:solidFill>
            <a:srgbClr val="0E2A47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" y="3739896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はじめの一歩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" y="4325112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環境整備・6フェーズ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0936" y="491032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D97E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910328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research-starter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0936" y="5532120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6B5B9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532120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📄 research_start v0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98064" y="3611880"/>
            <a:ext cx="2167128" cy="2606040"/>
          </a:xfrm>
          <a:prstGeom prst="roundRect">
            <a:avLst>
              <a:gd name="adj" fmla="val 337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26080" y="3739896"/>
            <a:ext cx="1911096" cy="512064"/>
          </a:xfrm>
          <a:prstGeom prst="roundRect">
            <a:avLst>
              <a:gd name="adj" fmla="val 10714"/>
            </a:avLst>
          </a:prstGeom>
          <a:solidFill>
            <a:srgbClr val="0E2A47"/>
          </a:solidFill>
          <a:ln/>
        </p:spPr>
      </p:sp>
      <p:sp>
        <p:nvSpPr>
          <p:cNvPr id="28" name="Text 26"/>
          <p:cNvSpPr/>
          <p:nvPr/>
        </p:nvSpPr>
        <p:spPr>
          <a:xfrm>
            <a:off x="2926080" y="3739896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研究開始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926080" y="4325112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プロジェクト計画書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926080" y="491032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D97E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80944" y="4910328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research-proposer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926080" y="5532120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6B5B9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80944" y="5532120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📄 proposal v0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93208" y="3611880"/>
            <a:ext cx="2167128" cy="2606040"/>
          </a:xfrm>
          <a:prstGeom prst="roundRect">
            <a:avLst>
              <a:gd name="adj" fmla="val 337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21224" y="3739896"/>
            <a:ext cx="1911096" cy="512064"/>
          </a:xfrm>
          <a:prstGeom prst="roundRect">
            <a:avLst>
              <a:gd name="adj" fmla="val 10714"/>
            </a:avLst>
          </a:prstGeom>
          <a:solidFill>
            <a:srgbClr val="0E2A47"/>
          </a:solidFill>
          <a:ln/>
        </p:spPr>
      </p:sp>
      <p:sp>
        <p:nvSpPr>
          <p:cNvPr id="36" name="Text 34"/>
          <p:cNvSpPr/>
          <p:nvPr/>
        </p:nvSpPr>
        <p:spPr>
          <a:xfrm>
            <a:off x="5221224" y="3739896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執筆型の決定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21224" y="4325112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IMRAD・7文法・箱テンプレ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221224" y="491032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0F6E8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76088" y="4910328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📖 本資料 Part 3 に収録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221224" y="5532120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D97E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76088" y="5532120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compiler v2 に内蔵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388352" y="3611880"/>
            <a:ext cx="2167128" cy="2606040"/>
          </a:xfrm>
          <a:prstGeom prst="roundRect">
            <a:avLst>
              <a:gd name="adj" fmla="val 337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16368" y="3739896"/>
            <a:ext cx="1911096" cy="512064"/>
          </a:xfrm>
          <a:prstGeom prst="roundRect">
            <a:avLst>
              <a:gd name="adj" fmla="val 10714"/>
            </a:avLst>
          </a:prstGeom>
          <a:solidFill>
            <a:srgbClr val="0E2A47"/>
          </a:solidFill>
          <a:ln/>
        </p:spPr>
      </p:sp>
      <p:sp>
        <p:nvSpPr>
          <p:cNvPr id="44" name="Text 42"/>
          <p:cNvSpPr/>
          <p:nvPr/>
        </p:nvSpPr>
        <p:spPr>
          <a:xfrm>
            <a:off x="7516368" y="3739896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論文執筆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516368" y="4325112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write / review ループ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516368" y="491032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D97E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71232" y="4910328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paper-compiler v2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516368" y="5532120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6B5B9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1232" y="5532120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📄 paper_template v0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683496" y="3611880"/>
            <a:ext cx="2167128" cy="2606040"/>
          </a:xfrm>
          <a:prstGeom prst="roundRect">
            <a:avLst>
              <a:gd name="adj" fmla="val 337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811512" y="3739896"/>
            <a:ext cx="1911096" cy="512064"/>
          </a:xfrm>
          <a:prstGeom prst="roundRect">
            <a:avLst>
              <a:gd name="adj" fmla="val 10714"/>
            </a:avLst>
          </a:prstGeom>
          <a:solidFill>
            <a:srgbClr val="0E2A47"/>
          </a:solidFill>
          <a:ln/>
        </p:spPr>
      </p:sp>
      <p:sp>
        <p:nvSpPr>
          <p:cNvPr id="52" name="Text 50"/>
          <p:cNvSpPr/>
          <p:nvPr/>
        </p:nvSpPr>
        <p:spPr>
          <a:xfrm>
            <a:off x="9811512" y="3739896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投稿前監査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9811512" y="4325112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audit・18項目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811512" y="491032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D97E2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866376" y="4910328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compiler v2 audit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/ 43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TABLE OF 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55680" cy="621792"/>
          </a:xfrm>
          <a:prstGeom prst="roundRect">
            <a:avLst>
              <a:gd name="adj" fmla="val 882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81328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0E2A47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481328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序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828800" y="142646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TL;DR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1426464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3つの核メッセージと新体制リソースマップ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744200" y="1426464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E2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103120"/>
            <a:ext cx="11155680" cy="621792"/>
          </a:xfrm>
          <a:prstGeom prst="roundRect">
            <a:avLst>
              <a:gd name="adj" fmla="val 882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212848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0F6E84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212848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828800" y="215798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研究者としてのはじめの一歩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2157984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6フェーズの詳細＋Phase別ドリル一覧・研究の心構え＋ research-starter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744200" y="2157984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p.4–12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834640"/>
            <a:ext cx="11155680" cy="621792"/>
          </a:xfrm>
          <a:prstGeom prst="roundRect">
            <a:avLst>
              <a:gd name="adj" fmla="val 882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944368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0F6E84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944368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2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828800" y="288950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研究開始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2889504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研究プロポーザルの固定目次・記述要件 ＋ research-proposer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744200" y="2889504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p.13–15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566160"/>
            <a:ext cx="11155680" cy="621792"/>
          </a:xfrm>
          <a:prstGeom prst="roundRect">
            <a:avLst>
              <a:gd name="adj" fmla="val 882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3675888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6B5B95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675888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828800" y="362102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執筆型の決定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12080" y="3621024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IMRAD・ILMRAD／各章のコツと例文／Title・Abstract／References／7文法と実例／箱テンプレと定型句実例／型の価値・分野差／トップジャーナルの流儀（岡先生FB）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744200" y="3621024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p.16–30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4297680"/>
            <a:ext cx="11155680" cy="621792"/>
          </a:xfrm>
          <a:prstGeom prst="roundRect">
            <a:avLst>
              <a:gd name="adj" fmla="val 882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" y="4407408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6B5B95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407408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4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828800" y="435254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論文執筆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12080" y="4352544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3軸／骨格選択とA/B判定／compiler v2 の3モード／writeループ／template v0（4部構成）／literature-reviewer／audit 18項目／Word修正規定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744200" y="4352544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p.31–39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2920" y="5029200"/>
            <a:ext cx="11155680" cy="621792"/>
          </a:xfrm>
          <a:prstGeom prst="roundRect">
            <a:avLst>
              <a:gd name="adj" fmla="val 882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" y="5138928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D97E20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" y="5138928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5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828800" y="508406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リソースと使い分け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12080" y="5084064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カタログ v2 ／ フローチャート v2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744200" y="5084064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p.40–42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2920" y="5760720"/>
            <a:ext cx="11155680" cy="621792"/>
          </a:xfrm>
          <a:prstGeom prst="roundRect">
            <a:avLst>
              <a:gd name="adj" fmla="val 882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8368" y="5870448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0E2A47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" y="5870448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828800" y="581558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212080" y="5815584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v0リレーと実行チェックリスト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744200" y="5815584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E2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p.43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/ 43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4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研究者としてのはじめの一歩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5212080" cy="3977640"/>
          </a:xfrm>
          <a:prstGeom prst="roundRect">
            <a:avLst>
              <a:gd name="adj" fmla="val 206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LESSONS LEARNED ─ このパートの要点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研究「周辺」のタスクは6フェーズに型化できる ── 順番が戦略（ライセンス→言語化→見せる→調べる→狙う→書く）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ORCID＝研究者ライセンス。問い・仮説はA4 1〜2枚で定期的に書き直す「筋トレ」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文献は「7割・2020年以降」── 探索は literature-researcher、検証は literature-reviewer が分業。投稿は短報とarXiv慣習を戦略的に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research-starter が23スロットの状態機械として全フェーズの進捗を伴走する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0936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8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SECTION CONTENTS ─ 収録スライド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69748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p.5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6つのフェーズ全体像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309360" y="312724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p.6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01 ORCID登録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09360" y="355701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p.7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02 問い・仮説の言語化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09360" y="398678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p.8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03 LP・名刺・ブランディング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09360" y="441655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p.9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04 文献整備と引用形式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09360" y="484632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p.10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05 投稿先と計画設計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09360" y="527608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p.11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06 執筆力＋research-starter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09360" y="570585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p.12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Phase別ドリル一覧と心構え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/ 43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  ─  研究者としてのはじめの一歩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6つのフェーズ ─ この順番で実行することが大事！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64208"/>
            <a:ext cx="512064" cy="512064"/>
          </a:xfrm>
          <a:prstGeom prst="ellipse">
            <a:avLst/>
          </a:prstGeom>
          <a:solidFill>
            <a:srgbClr val="0F6E8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178765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8249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 ORCID登録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22376" y="2267712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研究者ライセンスの発行。「研究者のLinkedIn」。Scholar系もあわせて整備。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88536" y="1481328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71416" y="1664208"/>
            <a:ext cx="512064" cy="512064"/>
          </a:xfrm>
          <a:prstGeom prst="ellipse">
            <a:avLst/>
          </a:prstGeom>
          <a:solidFill>
            <a:srgbClr val="0F6E8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178765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11496" y="168249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 問い・仮説の言語化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07992" y="2267712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What / Why / How に答え A4 1〜2枚に。好き×できる×売れるの3軸で選ぶ。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074152" y="1481328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57032" y="1664208"/>
            <a:ext cx="512064" cy="512064"/>
          </a:xfrm>
          <a:prstGeom prst="ellipse">
            <a:avLst/>
          </a:prstGeom>
          <a:solidFill>
            <a:srgbClr val="0F6E8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476" y="1787652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97112" y="168249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LP・名刺・ブランディング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93608" y="2267712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LP・事前登録・名刺・MVPで「XをしているYさん」の磁石になる。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02920" y="3163824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3346704"/>
            <a:ext cx="512064" cy="512064"/>
          </a:xfrm>
          <a:prstGeom prst="ellipse">
            <a:avLst/>
          </a:prstGeom>
          <a:solidFill>
            <a:srgbClr val="0F6E8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3470148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36499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 先行研究・参考文献整備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22376" y="3950208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トップ研究者を把握し「虎の巻」を作る。7割・2020年以降の法則。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88536" y="3163824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71416" y="3346704"/>
            <a:ext cx="512064" cy="512064"/>
          </a:xfrm>
          <a:prstGeom prst="ellipse">
            <a:avLst/>
          </a:prstGeom>
          <a:solidFill>
            <a:srgbClr val="0F6E8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3470148"/>
            <a:ext cx="265176" cy="26517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11496" y="336499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 投稿先の把握と計画設計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07992" y="3950208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J×3（IF付き）＋C×3をリスト化。1年間の投稿計画を策定する。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074152" y="3163824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57032" y="3346704"/>
            <a:ext cx="512064" cy="512064"/>
          </a:xfrm>
          <a:prstGeom prst="ellipse">
            <a:avLst/>
          </a:prstGeom>
          <a:solidFill>
            <a:srgbClr val="0F6E84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0476" y="3470148"/>
            <a:ext cx="265176" cy="26517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97112" y="336499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 論文執筆力の習得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293608" y="3950208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IMRADと英語論文スキルを今すぐ開始。creativity × outcome で勝負。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502920" y="4965192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/>
        </p:spPr>
      </p:sp>
      <p:sp>
        <p:nvSpPr>
          <p:cNvPr id="35" name="Text 27"/>
          <p:cNvSpPr/>
          <p:nvPr/>
        </p:nvSpPr>
        <p:spPr>
          <a:xfrm>
            <a:off x="777240" y="50566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⚡ 順番が戦略。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ライセンス（01）→ 言語化（02）→ 見せる（03）→ 調べる（04）→ 狙う（05）→ 書く（06）。以降のスライドで各フェーズを詳しく学ぶ。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/ 43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  ─  PHASE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ORCID登録 ─ まず「研究者ライセンス」を取得する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727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ORCIDとは？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 Researcher and Contributor ID。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研究者に付与される国際的な固有識別番号。論文・プロジェクト・所属機関をすべて紐付けて管理できる「研究者の LinkedIn（履歴書）」。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例: 0000-0002-1825-0097　／　今すぐ登録：https://orcid.org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727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なぜ最初にやるのか？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1938528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研究活動の「ライセンス」。これがないと存在しないに等しい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Nature・Elsevier 等の主要出版社は ORCID で著者を管理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論文投稿時の必須項目になりつつある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被引用・共著・実績のトラッキングが自動化される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97764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114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💡 あわせて整備：Google Scholar ／ ResearchGate ／ Semantic Scholar　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被引用数・h-index の自動集計。ORCID と連携させて一元管理する。所属機関・研究テーマ・学歴を必ず入力してプロフィールを完成させること。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52578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ドリル：□ orcid.org で登録し URL・iD を取得　□ プロフィール完成　□ Scholar系と連携（research_start_template_v0 の Phase 01 欄へ記入）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/ 43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  ─  PHASE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問い・仮説の言語化 ─ A4 1〜2枚が論文の第一章になる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675120" cy="868680"/>
          </a:xfrm>
          <a:prstGeom prst="roundRect">
            <a:avLst>
              <a:gd name="adj" fmla="val 842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82496"/>
            <a:ext cx="438912" cy="438912"/>
          </a:xfrm>
          <a:prstGeom prst="ellipse">
            <a:avLst/>
          </a:prstGeom>
          <a:solidFill>
            <a:srgbClr val="0F6E8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824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What?  どんな現象・問題に興味があるか？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80160" y="193852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「〜が面白い」「〜が不思議」を素直に書く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441448"/>
            <a:ext cx="6675120" cy="868680"/>
          </a:xfrm>
          <a:prstGeom prst="roundRect">
            <a:avLst>
              <a:gd name="adj" fmla="val 842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660904"/>
            <a:ext cx="438912" cy="438912"/>
          </a:xfrm>
          <a:prstGeom prst="ellipse">
            <a:avLst/>
          </a:prstGeom>
          <a:solidFill>
            <a:srgbClr val="0F6E8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609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53288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Why?  なぜ重要か？誰が困っているか？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80160" y="291693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社会・自然・世界のどのテーマかを明確に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419856"/>
            <a:ext cx="6675120" cy="868680"/>
          </a:xfrm>
          <a:prstGeom prst="roundRect">
            <a:avLst>
              <a:gd name="adj" fmla="val 842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639312"/>
            <a:ext cx="438912" cy="438912"/>
          </a:xfrm>
          <a:prstGeom prst="ellipse">
            <a:avLst/>
          </a:prstGeom>
          <a:solidFill>
            <a:srgbClr val="0F6E84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51129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How?  どう解決できると思うか？（仮説）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80160" y="3895344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DSアプローチで「〜ではないか」と書く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41655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いつでも更新してOK。定期的に書き直すことが大事 ──「考え方の筋トレ」。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60920" y="1463040"/>
            <a:ext cx="4297680" cy="3063240"/>
          </a:xfrm>
          <a:prstGeom prst="roundRect">
            <a:avLst>
              <a:gd name="adj" fmla="val 238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89520" y="160934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テーマ選びの3軸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89520" y="1975104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好きな事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純粋な知的好奇心。情熱を持って長期間続けられるか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出来ること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自分の強み・スキル・専門性が活かせるか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自分で売れること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社会・産業・誰かのニーズと接続しているか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89204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9834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🌍 データサイエンスでは、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自分が選んだ社会・世界・自然のテーマ自体が大事。DS技術は「解き方」── テーマの価値こそが研究の価値。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/ 43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  ─  PHASE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LP・名刺・ブランディング ─ 研究を「見せて」磁石になる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22376" y="1609344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🌐 ランディングページ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22376" y="2011680"/>
            <a:ext cx="5047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研究テーマ・解決する問題・提供価値を1ページで。公開前でも「Coming Soon」で十分。Webflow・Notion 等で作成。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1656" y="1609344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📋 事前登録フォーム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91656" y="2011680"/>
            <a:ext cx="5047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機能未公開でも今すぐ設置できる。興味ユーザーの定量データ（人数・属性）が研究根拠になる。Google Forms 等。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3209544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🪪 名刺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22376" y="3611880"/>
            <a:ext cx="5047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氏名・所属・研究テーマ・LP URL・QRコード。「XをしているYさん」として自分を一言で表現。Canva 等で作成。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30632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91656" y="3209544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📱 Webアプリ（MVP）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91656" y="3611880"/>
            <a:ext cx="5047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最小限の機能でOK。仮説の解決策をプロダクト化。定性フィードバックと定量トラッキングが研究データになる。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754880"/>
            <a:ext cx="11155680" cy="1143000"/>
          </a:xfrm>
          <a:prstGeom prst="roundRect">
            <a:avLst>
              <a:gd name="adj" fmla="val 6400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864608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🧲 磁石戦略：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「XをしているYさん」ブランドが確立すると、情報・紹介・共同研究・ユーザーが自然と引き寄せられる「磁石」になる。事前登録者数・利用ログは、のちの論文で「ニーズの定量的根拠」として使える。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/ 43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  ─  PHASE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先行研究・参考文献の整備 ─ 虎の巻と引用形式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727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虎の巻・「7割・2020年以降」の法則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385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査読者はリファレンスの「ビジュアル」で論文の質を判断する。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3520440" cy="457200"/>
          </a:xfrm>
          <a:prstGeom prst="roundRect">
            <a:avLst>
              <a:gd name="adj" fmla="val 10000"/>
            </a:avLst>
          </a:prstGeom>
          <a:solidFill>
            <a:srgbClr val="0F6E84"/>
          </a:solidFill>
          <a:ln/>
        </p:spPr>
      </p:sp>
      <p:sp>
        <p:nvSpPr>
          <p:cNvPr id="8" name="Shape 6"/>
          <p:cNvSpPr/>
          <p:nvPr/>
        </p:nvSpPr>
        <p:spPr>
          <a:xfrm>
            <a:off x="4288536" y="2331720"/>
            <a:ext cx="1472184" cy="457200"/>
          </a:xfrm>
          <a:prstGeom prst="roundRect">
            <a:avLst>
              <a:gd name="adj" fmla="val 10000"/>
            </a:avLst>
          </a:prstGeom>
          <a:solidFill>
            <a:srgbClr val="B9CDD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317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70%  2020年以降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51960" y="23317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05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最新文献（7割）：2020年以降を中心に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オーソリティ（巨匠）：古典名著を数本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データソース：原典は古くてもOK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トップ研究者5〜10人の顔・名前・所属を把握し Google Scholar でフォロー。自分の研究の位置を地図にし、「これが解けたら世界はこう変わる」という世界線を具体的に描く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41732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55448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AMA形式（番号引用 [1][2]）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✅ 戦略的：引用順を自分でコントロールできる／投稿先誌の論文を早い段階で引用しやすい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⚠️ 文献を追加すると番号がすべてずれる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352044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65760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APA形式（人名引用 (Smith, 2023)）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0233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✅ 合理的：文献追加でも番号がずれない／著者名が本文に出て読者に分かりやすい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⚠️ 本文中に著者名を毎回書く手間。社会科学・心理学系で一般的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💡 投稿先の雑誌が使う形式に合わせる。どちらでもないときは AMA が戦略的に有利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571500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分業：探索・虎の巻＝literature-researcher ／ 検証・要約・URL＝literature-reviewer（p.37）。出典不明は ⚠️ 要確認。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 / 43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  ─  PHASE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投稿先の把握とスケジュール設計 ─ 戦略的に実績を創る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34440" y="16459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投稿先の最新号を早期に引用する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22376" y="2468880"/>
            <a:ext cx="31729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イントロの早い段階で投稿先誌の最新論文を引用。「貴誌をフォローしている」というメッセージを査読者に伝える効果的な戦術。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88536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9704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20056" y="16459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ショート・コミュニケーション（短報）を活用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07992" y="2468880"/>
            <a:ext cx="31729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3,000ワード程度で結果を迅速に報告。格付けはフルペーパーと遜色なし。最初の論文として最適！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74152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805672" y="16459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サプリメンタリー・マテリアルを活用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93608" y="2468880"/>
            <a:ext cx="31729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大量の文献・データが本文に入り切らない場合は付録としてリンク参照。現代の学術エチケット。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977640"/>
            <a:ext cx="11155680" cy="1371600"/>
          </a:xfrm>
          <a:prstGeom prst="roundRect">
            <a:avLst>
              <a:gd name="adj" fmla="val 5333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096512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📡 DS / AI 分野の慣習 ── arXiv：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arXiv への投稿（プレプリント）は速報性のための業界標準。原則「引用」は不可（査読未了）だが、AI / ML 分野は preprint と明記すれば引用可。論文の arXiv 投稿はカンファレンス・ジャーナルと並行して行われることが多い。積極的に活用しよう。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54864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ドリル：□ トップジャーナル3つ（IF付き）＋トップカンファレンス3つをリスト化　□ 1年間の投稿計画（締切・投稿先・テーマ）を策定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/ 43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  ─  PHASE 06 ＋ SKILL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論文執筆力の習得 ─ そして ⚙️ research-starter が伴走する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727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06：執筆力を今すぐ鍛え始める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1956816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国際誌・国際会議はほぼすべて英語執筆が前提。英語論文スキルの習得を今すぐ始める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プロの表現力 ── creativity（創造性）× outcome（成果）で勝負する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ドリル：□ タイトル・アブスト（200字）をドラフト　□ IMRAD各章の概要　□ 主張を伝える図・表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5727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research-starter ─ 6フェーズの状態機械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0" y="1956816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v0が無くても会話だけで起動。23スロットを検査し ❌/⚠️＋充足質問でヒアリング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現在のPhaseの質問だけをまとめて聞き、次の1アクションだけを提示（順番の機械化）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研究スタートDOCXを生成・更新（更新履歴：✅完了／🔄更新した問い・仮説／▶次アクション）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406908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0E2A4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06908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命名：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{YYYYMMDD}_ResearchStart_@{NAME}_{LANG}_vX.docx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全Phase✅で paper_template_v0 → paper-compiler へ移行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521208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詳細 → 📄 research_start_template_v0（初期質問シート＋更新履歴＋Phase別ドリルの3部構成）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/ 43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  ─  まとめ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Phase別ドリル一覧 ─ この順番で実行するチェックリスト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36192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0F6E8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3619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53312" y="1417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 orcid.org で登録し URL・iD を取得　□ Google Scholar / ResearchGate / Semantic Scholar も整備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139696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58568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0F6E8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5856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53312" y="213969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 What / Why / How に答え、A4 1〜2枚の DOCX にまとめる（いつでも更新OK）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862072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980944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0F6E8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8094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53312" y="286207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 事前登録LPを作成し、URL・QR付き名刺を作成　□ WebアプリMVPを作成し LP からリンク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584448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703320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0F6E8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033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53312" y="358444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 参考文献リスト＋各文献の概要（200字）を DOCX 出力　□ トップ研究者（名前・所属）をリスト化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306824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425696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0F6E84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42569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53312" y="4306824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 トップ会議3つ＋ジャーナル3つを IF 付きでリスト化　□ 1年間の投稿計画（締切・テーマ・目標誌）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5029200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5148072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0F6E84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1480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53312" y="502920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 タイトル・アブスト（200字）・IMRAD各章概要を DOCX でドラフト　□ 主張を伝える図・表を作成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576986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このチェックリストは research_start_template_v0 の Phase別ドリル欄と1対1対応（research-starter が進捗を自動検査）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001000" y="1417320"/>
            <a:ext cx="3657600" cy="1389888"/>
          </a:xfrm>
          <a:prstGeom prst="roundRect">
            <a:avLst>
              <a:gd name="adj" fmla="val 5263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183880" y="154533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研究自体に集中しよう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183880" y="1911096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周辺タスクを型として修めれば、あとは研究本体に全力を注げる。それがこの資料の目的。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01000" y="2935224"/>
            <a:ext cx="3657600" cy="1389888"/>
          </a:xfrm>
          <a:prstGeom prst="roundRect">
            <a:avLst>
              <a:gd name="adj" fmla="val 5263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183880" y="30632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目線を高く持とう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183880" y="3429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DS / AI は世界最重要領域。博士号への需要は空前絶後に高い。世界トップを目指せ。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001000" y="4453128"/>
            <a:ext cx="3657600" cy="1389888"/>
          </a:xfrm>
          <a:prstGeom prst="roundRect">
            <a:avLst>
              <a:gd name="adj" fmla="val 5263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183880" y="45811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産業界へ殴り込みをかけよう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183880" y="4946904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研究力は最も汎用性の高い能力。トップ研究者として産業界に打って出よう。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 / 43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4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研究開始 ─ プロジェクトを設計する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5212080" cy="3977640"/>
          </a:xfrm>
          <a:prstGeom prst="roundRect">
            <a:avLst>
              <a:gd name="adj" fmla="val 206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LESSONS LEARNED ─ このパートの要点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計画書は固定目次で書く ──「誰が・何を・いつ」（スケジュールと役割）を概要の直後に置きタスク確認を最優先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サラミ・スライスを防ぐため、成果物ごとの独立した貢献と相互引用関係を明示する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FAQは中学生でも分かる言葉で。方法論的批判には先回りして回答を用意する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research-proposer が ❌/⚠️→充足質問のループで「キックオフ可能版」まで収束させ、literature-reviewer が末尾に関連研究を付加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0936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8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SECTION CONTENTS ─ 収録スライド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69748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p.14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研究プロポーザル ─ 固定目次と記述要件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309360" y="312724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p.15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research-proposer ─ 計画書を対話でコンパイル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 / 43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2  ─  研究開始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研究プロポーザル ─ 固定目次と記述要件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577840" cy="4297680"/>
          </a:xfrm>
          <a:prstGeom prst="roundRect">
            <a:avLst>
              <a:gd name="adj" fmla="val 1702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6362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固定の目次（この順序を厳守）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1947672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研究者リストと所属（ORCID / e-Rad）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研究の概要（要旨・中核主張1文・キーワード）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スケジュールと役割 ★概要の直後（タスク確認を最優先）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研究の背景（問題／既存手法の限界／新規性）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目的・リサーチクエスチョン・中核貢献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ポートフォリオ：成果物構成と著者割り当て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実験方針・研究方法（実験ID・指標・担当）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発表・投稿戦略（会場選定と適合）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 投稿先・資料・リンク（CfP・OSS・DOI方針）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 FAQ・想定問答（中学生でも分かる言葉で）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7. Literature Review（関連研究）★literature-reviewer が最後に付加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55080" y="1417320"/>
            <a:ext cx="5303520" cy="1207008"/>
          </a:xfrm>
          <a:prstGeom prst="roundRect">
            <a:avLst>
              <a:gd name="adj" fmla="val 6061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74536" y="1545336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「誰が・何を・いつ」を最初に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74536" y="1892808"/>
            <a:ext cx="4864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go/no-go 判断点、締切・通知・カメラレディの日付を先頭で明示。担当者間の依存関係も併記。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55080" y="2770632"/>
            <a:ext cx="5303520" cy="1207008"/>
          </a:xfrm>
          <a:prstGeom prst="roundRect">
            <a:avLst>
              <a:gd name="adj" fmla="val 6061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74536" y="2898648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サラミ・スライスを防ぐ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74536" y="3246120"/>
            <a:ext cx="4864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複数論文に分けるなら、各貢献の独立性と相互引用関係を明示。成果物を速報性・権威・永続性の目的に対応づける。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55080" y="4123944"/>
            <a:ext cx="5303520" cy="1207008"/>
          </a:xfrm>
          <a:prstGeom prst="roundRect">
            <a:avLst>
              <a:gd name="adj" fmla="val 6061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74536" y="4251960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批判に先回りする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74536" y="4599432"/>
            <a:ext cx="4864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FAQで専門用語を定義し、方法論的批判への回答を事前に用意。査読・共同研究者・一般読者の3視点。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55080" y="5477256"/>
            <a:ext cx="5303520" cy="566928"/>
          </a:xfrm>
          <a:prstGeom prst="roundRect">
            <a:avLst>
              <a:gd name="adj" fmla="val 11290"/>
            </a:avLst>
          </a:prstGeom>
          <a:solidFill>
            <a:srgbClr val="0E2A47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547725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A4・本文10.5pt・見出しネイビー・未記入は〔　〕アンバー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 / 43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2  ─  SKILL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research-proposer ─ 計画書を対話でコンパイルする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固定目次を22スロットの状態機械として管理。v0雛形が無くても、会話・メモ・議事録だけで起動できる（旧 research-project-plan を対話ループに拡張した後継）。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93852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2286000"/>
            <a:ext cx="1901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会話・メモ・議事録・文字起こし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615184" y="224028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79776" y="1828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98648" y="193852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写像表の提示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98648" y="2286000"/>
            <a:ext cx="1901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どの情報がどのスロットに入るかを先に見せる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92040" y="224028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56632" y="1828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75504" y="193852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ギャップ検出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75504" y="2286000"/>
            <a:ext cx="1901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❌/⚠️＋充足質問（指摘だけは禁止）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168896" y="224028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33488" y="1828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193852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回答・加筆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52360" y="2286000"/>
            <a:ext cx="1901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空きスロットが多くても質問は1回にまとめる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445752" y="224028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610344" y="1828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29216" y="193852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DOCX更新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29216" y="2286000"/>
            <a:ext cx="1901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更新履歴に4項目追記・vX+1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32918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41985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優先度＝キックオフ必須度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3785616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HIGH：研究者・概要・スケジュール・RQ ／ MEDIUM：背景・ポートフォリオ・実験・投稿戦略 ／ LOW：リンク・FAQ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88536" y="32918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71416" y="341985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修正は Word ネイティブ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71416" y="3785616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書き換え＝変更履歴、質問＝コメントで該当箇所にアンカー。インライン注記は禁止。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74152" y="32918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57032" y="341985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収束＝キックオフ可能版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57032" y="3785616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❌=0 かつ HIGHの⚠️=0 → 履歴ページ削除 → 配布 → 各成果物の paper_template_v0 起票へ。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489204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0E2A47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489204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命名：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{YYYYMMDD}_{PROJECT}_Proposal_@{PI}_{LANG}_vX.docx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起動：「研究プロポーザル」「研究計画をまとめて」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 / 43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4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執筆型の決定 ─ IMRAD・7文法・箱テンプレ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5212080" cy="3977640"/>
          </a:xfrm>
          <a:prstGeom prst="roundRect">
            <a:avLst>
              <a:gd name="adj" fmla="val 206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LESSONS LEARNED ─ このパートの要点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世界標準はIMRAD。各章の役割分担 ── 特に「事実（R）と解釈（D）の分離」が知的誠実さの評価を生む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Title・Abstractは型の外の最重要要素。査読者が読む順序（①Title ②Abstract ③図表 ④本文）で設計する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アブストと1章は7文法で「閉世界」を作る。箱テンプレ（清木系）は定型句ごと流用し章間整合を守る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国際トップジャーナルは "We propose" で始めない。数字には必ず意味（比較基準・ステークス）を与える（岡先生FB）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0936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8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SECTION CONTENTS ─ 収録スライド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697480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p.17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なぜ章立てか＋IMRAD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309360" y="312724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p.18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各章のコツ I・L（例文つき）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09360" y="3557016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p.19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各章のコツ M・R（例文つき）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09360" y="3986784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p.20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各章のコツ D・Conclusion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09360" y="4416552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p.21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ILMRAD・Related Work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09360" y="4846320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p.22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と Abstract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09360" y="527608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p.23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References・Supplementary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961120" y="2697480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p.24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アブスト7文法（浦木）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961120" y="312724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p.25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7文法の実例（P620）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961120" y="3557016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p.26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箱テンプレート5章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961120" y="3986784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p.27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箱テンプレ定型句の実例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961120" y="4416552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p.28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型の価値・分野別の違い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961120" y="4846320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p.29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トップ誌の流儀①（岡先生FB）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961120" y="527608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p.30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トップ誌の流儀②（岡先生FB）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 / 43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執筆型の決定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なぜ章立てを意識するのか ─ 国際標準 IMRAD（4章）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53619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読み手が「次に何が書かれるか」を予測でき、理解の負荷が下がる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88536" y="141732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7141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928616" y="153619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自分が「何を書いていないか」に気付け、論文全体の抜けを減らせる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74152" y="141732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5703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714232" y="153619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分野のプロが共有する作法に乗ることで、査読通過率が体感的に上がる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83464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292608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9224" y="34381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Introduction 序論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9224" y="37307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問いの設定と研究の位置づけ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136392" y="3337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28416" y="283464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292608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474720" y="34381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Methods 方法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74720" y="37307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再現可能な手続き ※生命科学では Materials and Methods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961888" y="3337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53912" y="283464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0216" y="292608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300216" y="34381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Results 結果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00216" y="37307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得られた事実の提示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787384" y="3337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979408" y="283464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25712" y="292608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9125712" y="34381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Discussion 考察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125712" y="37307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結果の解釈・限界・含意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2920" y="434340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論理の流れ：なぜ問うか → どう調べたか → 何が分かったか → 何を意味するか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2920" y="475488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864608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ANSI が 1972・1979 年に正式採用。</a:t>
            </a:r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1980年代以降ほぼ全ての科学系ジャーナルが採用する確立された国際標準。良い論文は「内容が新しい」だけでは不十分 ── 査読者・編集者が限られた時間で論旨を追える構造が前提。型に沿うことで研究そのものの議論に集中できる。※本資料は原著論文（Original Article）が対象。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 / 43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各章の書き方のコツ（1/3）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Introduction と Literature Review ─ 例文つき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179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 </a:t>
            </a:r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Introduction ─ 研究の文脈と問いを示す最初の関門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含める要素：分野の概観と意義／ギャップ（分かっていないこと）／RQ・仮説／貢献の明示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コツ：「読む価値がある」と判断させる入口。広い背景 → 焦点 → 本研究、と漏斗状に絞る。ギャップが本研究の必要性を正当化する。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50292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2918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例文（漏斗の3ステップ）：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「近年、〜が急速に普及している（広い背景）。しかし、〜は依然として明らかでない（ギャップ）。本研究では〜を提案し、…に貢献する（本研究）。」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72200" y="137160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5179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 </a:t>
            </a:r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Literature Review ─ 議論の地図を描く章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192024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含める要素：網羅的な収集と整理／論点ごとのグループ化／各研究の貢献と限界の評価／本研究が埋めるギャップへの橋渡し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コツ：「誰が何を言ったか」ではなく「何が分かっていて、何が分かっていないか」を書く。短い会議論文では Related Work として節扱いでも可。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3200400"/>
            <a:ext cx="50292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32918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例文（章末の接続）：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「以上より、〜と〜を同時に満たす手法は存在しない。本研究はこのギャップを埋める。」── 論点整理の結論を必ず自研究へ接続する。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461772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0E2A4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7091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スロット対応：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I＝blueprint の I1〜I5（重要性／ギャップ／アプローチ宣言／貢献リスト／構成案内）、L＝R1〜R3（論点別／2軸ポジショニング／自グループ差分）。audit 項目12・13 で検査。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 / 43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各章の書き方のコツ（2/3）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Methods と Results ─ 再現性と、事実だけを書く規律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179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 </a:t>
            </a:r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Methods ─ 第三者が再現できるレベルで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含める要素：研究デザイン／対象・データ・N と選定基準／機器・ソフトとバージョン／解析手法と統計処理／倫理審査（人対象）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コツ：生命科学・農学では章名 Materials and Methods が標準、社会科学・工学は Methods のみが多い。客観的・記述的に書き、考察は入れない。「再現できるか」を自問しながら書く。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3401568"/>
            <a:ext cx="50292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47472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例文：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「解析には Python 3.11 と scikit-learn 1.4 を用いた。参加者は32名（選定基準：〜）。本研究は〜倫理委員会の承認を得た（No.〜）。」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72200" y="137160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5179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Results ─ 解釈を交えず、事実だけを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19202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含める要素：観察・測定された事実／図表（こちらが主役）／本文は図表の要点を簡潔に補足／ネガティブな結果も報告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コツ：「〜と考えられる」「〜を示唆する」は Discussion へ。図表の番号・タイトルを本文中で必ず参照。数値はそのまま、過剰な装飾をしない。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3401568"/>
            <a:ext cx="50292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347472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例文（NG → OK）：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❌「精度が向上したと考えられる」→ ✅「提案手法の精度は92.4%であり、ベースライン（85.1%）を上回った（Table 2）。」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461772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0E2A4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7091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骨格による差に注意：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「Resultsに解釈禁止」は IMRAD の規律（audit 項目15）。箱テンプレの Experiment ブロックは (6) で結果の言語的解釈まで書く様式のため適用しない（N/A）。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 / 43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各章の書き方のコツ（3/3）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Discussion と Conclusion ─ 「だから何なのか」に答える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126480" cy="3108960"/>
          </a:xfrm>
          <a:prstGeom prst="roundRect">
            <a:avLst>
              <a:gd name="adj" fmla="val 2353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1790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 </a:t>
            </a:r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Discussion ─ 結果に意味を与える知的価値の中心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含める要素：主要結果の要約（1段落）／先行研究との比較（一致・不一致とその理由）／理論的・実務的含意／Limitations／今後の方向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コツ：Results を繰り返さない ── 意味を語る章。Limitations を隠さないことが信頼につながる。「so what?」に答える。CS・工学では Results＋Discussion の統合も一般的。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3401568"/>
            <a:ext cx="5669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474720"/>
            <a:ext cx="5394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例文（比較→理由→限界）：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「この結果は〜という仮説を支持する。一方、Smith ら [3] と異なり〜であった。これは〜による可能性がある。本研究の限界は、対象が〜に限られる点である。」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12280" y="1371600"/>
            <a:ext cx="4846320" cy="3108960"/>
          </a:xfrm>
          <a:prstGeom prst="roundRect">
            <a:avLst>
              <a:gd name="adj" fmla="val 235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151790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Conclusion を付けるかは分野の慣行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040880" y="1901952"/>
            <a:ext cx="4389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実証系の論文 → 独立 Conclusion を推奨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Discussion が長くなりがち。貢献を簡潔に再提示すると読者に親切。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短い会議論文 → Discussion 内で完結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ページ制限のため、最終段落として結論を述べる形で十分。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学位論文 → 独立 Conclusion ほぼ必須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貢献・限界・展望を俯瞰する章として形式的にも要求される。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466344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6634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投稿前に必ず投稿先の Author Guidelines と最近の掲載論文を確認すること（audit 項目16・17 で検査：比較・限界・含意の有無／Conclusion の置き方を意識的に選択したか）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 / 43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執筆型の決定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発展形 ILMRAD（5章）─ Literature Review の書き方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4904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1965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Introduction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78608" y="17647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70632" y="14173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16936" y="14904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916936" y="1965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Literature Review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05072" y="150876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新規追加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46320" y="17647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38344" y="14173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84648" y="14904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184648" y="1965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Methods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14032" y="17647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06056" y="14173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14904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52360" y="1965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Results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381744" y="17647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73768" y="14173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20072" y="14904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720072" y="1965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Discussion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2606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Introduction と Methods の間に Literature Review を独立章として追加。本格的なジャーナル論文・学位論文で広く採用。情報科学系カンファレンスでは Related Work と呼ぶことが多い。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24612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33756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論点ごとに整理する（時系列ではなく）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333756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「A手法の系譜→B手法の系譜」ではなく、評価の軸（論点）を立てて整理する。年代順の羅列は❌。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4197096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28853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2軸ポジショニング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0" y="4288536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評価軸を2つ立て「他研究は一方のみ・本研究は両方」を明示。例：『リアルタイム処理 × 個人適応 ── 従来研究はどちらか一方、本研究は両方を実現』。図示も有効。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5148072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523951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自グループ研究との差分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0" y="523951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土台となる先行研究を名指しし、本論文のデルタ（今回新しく加わったこと）を明確にする。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 / 43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執筆型の決定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と Abstract ─ IMRAD の「外」にある最重要要素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IMRAD という略語に Title・Abstract・References は含まれない ── しかしこれらは論文の「顔」であり、最初に読まれる。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892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9224" y="2295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関係あるか？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36392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28416" y="178308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892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Abstract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295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読む価値があるか？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61888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53912" y="178308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1892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Figures &amp; Tables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0216" y="2295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何が分かったか？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787384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79408" y="178308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25712" y="1892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本文全体（IMRAD）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25712" y="2295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詳細は？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297180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2724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Working → Final の2段構え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1520" y="3493008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Working Abstract（作業用草稿）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執筆開始前に完成形を仮置きし、論文の羅針盤にする。変わって当然。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Final Abstract（提出用）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本文を書き終えてから最後に書き直す ── 査読者には最初に読まれる。Abstract と図表だけで骨格が伝わるか確認する。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297180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0" y="312724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Structured Abstract（構造化）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0800" y="3474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Abstract 自体が IMRAD の縮小版として構造化される形式。近年ジャーナルで標準化が進む。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0" y="40233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Background / Intro → Introduction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Objective → Introduction 末尾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Methods → Methods　／　Results → Results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Conclusions → Discussion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 / 43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執筆型の決定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References と Supplementary Material ─ 現代の学術作法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参考文献（References）も IMRAD の略語には含まれないが必須要素。近年はサプリメンタリー・マテリアルの活用が学術作法として定着している。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938528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参考文献リストの補足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22376" y="2286000"/>
            <a:ext cx="5047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膨大な文献が本文に入り切らない場合、Supplementary References としてリンクで参照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91656" y="1938528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詳細な実験手順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91656" y="2286000"/>
            <a:ext cx="5047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Extended Methods として完全プロトコルを収録し、再現性を担保する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06324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3172968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追加の図表・素データ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22376" y="3520440"/>
            <a:ext cx="5047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本文の読みやすさを保ちながら、補足図表・生データ・解析コードを提供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306324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91656" y="3172968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大規模データ・動画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91656" y="3520440"/>
            <a:ext cx="5047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本文に埋め込めない形式（CSV・動画・スプレッドシート等）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389120"/>
            <a:ext cx="11155680" cy="1280160"/>
          </a:xfrm>
          <a:prstGeom prst="roundRect">
            <a:avLst>
              <a:gd name="adj" fmla="val 5714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517136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リファレンスの品質チェック（audit項目 08〜11 に対応）：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 入り切らない文献は Supplementary へ切り出し本文から参照　□ 約7割が2020年以降（※箱テンプレ骨格では適用外）　□ arXiv は preprint と明記（AI/MLは引用可）　□ 引用形式（AMA/APA）が投稿先と一致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 / 43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執筆型の決定（浦木メソッド）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アブストラクトと1章の「7文法」─ 閉世界を作る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EFEBF6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4630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一般に、人間（脳のプロセス・機能）なら こうする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51560" y="1728216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※人間にできないことへの挑戦なら「人間にはこれが難しい」と定義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2075688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15798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57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07568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しかしながら、それがまだシステム上で実現できていない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624328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70662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62432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そのため、上記の実現は本分野における重要な課題である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172968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EFEBF6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25526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317296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我々は（論文タイトル）を提案する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721608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80390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803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372160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本研究の特徴は 〜（1文目の機能を実現するための特徴）〜 する点にある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4270248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35254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352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427024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本研究の実現により 〜〜 が可能となる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4818888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490118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901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51560" y="481888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本研究の実験では 〜〜 を構築し、有効性と実現可能性を検証した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680960" y="1417320"/>
            <a:ext cx="3977640" cy="2514600"/>
          </a:xfrm>
          <a:prstGeom prst="roundRect">
            <a:avLst>
              <a:gd name="adj" fmla="val 2909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882128" y="1572768"/>
            <a:ext cx="3575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なぜ「閉世界」なのか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882128" y="1920240"/>
            <a:ext cx="35753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膨大な関連研究・競合システム・周辺概況を背景に取り込むと、世界観が必要以上に広がり、説明の完全性を定義できなくなる。前半4文（人間の機能→未実現→重要課題→提案）で完全な世界観を先に閉じれば、その中で提案をすっきり説明できる。後半戦（5〜7文目）はほとんどの人がうまく書ける ── 勝負は前半4文。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680960" y="406908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82128" y="4206240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使いどころ（v2で機械化済み）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882128" y="4535424"/>
            <a:ext cx="3575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paper-compiler v2 が IMRAD の Abstract / Intro 生成レシピとして内蔵。audit の項目18（閉世界チェック）でも検査される。1章化は順序調整＋各文の展開。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 / 43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執筆型の決定（浦木メソッド）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7文法の実例 ─ P620「Time-axis Granularity Synthesizer」を題材に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EFEBF6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36192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36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417320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一般に、人間は会話・音楽・行動の流れを、状況に応じて「粗く」も「細かく」も時間の粒度を自在に切り替えながら理解している。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2039112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5798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57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039112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しかしながら、この時間粒度の動的な切り替えは、まだシステム上で実現できていない。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660904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779776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660904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そのため、時間粒度を動的に合成・切替できる仕組みの実現は、時系列データ解析分野における重要な課題である。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282696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EFEBF6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401568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01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282696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我々は "Time-axis Granularity Synthesizer" を提案する。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904488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023360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3904488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本研究の特徴は、人間の粒度切替に対応して、複数の時間軸粒度を要素関数の組み合わせとして合成・切替する点にある。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526280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645152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645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4526280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本研究の実現により、単一の時系列データに対する多粒度の文脈分析が可能となる。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5148072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526694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266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1560" y="5148072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本研究の実験では、実データに対するプロトタイプを構築し、本手法の有効性と実現可能性を検証した。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38160" y="1417320"/>
            <a:ext cx="3520440" cy="4224528"/>
          </a:xfrm>
          <a:prstGeom prst="roundRect">
            <a:avLst>
              <a:gd name="adj" fmla="val 2078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339328" y="1572768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この実例のポイント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39328" y="1956816"/>
            <a:ext cx="31181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1文目は技術でなく「人間の機能」から入る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前半4文だけで閉世界が完成 ── 関連研究の網羅は不要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5文目は1文目の機能と呼応する（粒度切替 ↔ 粒度切替）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手法名は大文字始まりの固有名詞で一貫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1章に展開するときは、各文を数文に膨らませて具体例を加える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" y="5806440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題材：箱テンプレ原本の基準論文 P620。IMRAD 骨格では compiler v2（write）がこの型で Abstract を自動生成する。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 / 43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執筆型の決定（清木系）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箱テンプレート5章 ─ 定型文ごと流用する「組版」の流儀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中身は書かず「何を書く場所か」の注釈だけを置いた空の箱。EJC・IOS Press系（清木リネージ）× 型A/B のときのみ使用。揺れは P620（Time-axis Granularity Synthesizer）の書き方を優先。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74520"/>
            <a:ext cx="1143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アブスト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74520" y="187452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①一般命題 ②問題定義 ③手法の固有名詞化 ④本質的特徴 ⑤貢献リスト ⑥実験予告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874520"/>
            <a:ext cx="1143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背景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43800" y="187452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重要性→自己引用ブロック→課題論理チェーン①〜⑤→本提案予告→2軸ポジショニング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807208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807208"/>
            <a:ext cx="1143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提案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74520" y="280720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【A】概念→N要素→主関数 ／【B】StepのOverview＋N要素の核（A/Bで切替）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2807208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807208"/>
            <a:ext cx="1143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実現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43800" y="280720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各要素を同型ブロック(a)〜(g)で反復。数式後は "X indicates ..." 構文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739896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739896"/>
            <a:ext cx="1143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実験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74520" y="3739896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feasibility を評価軸に宣言。各Experimentは(1)〜(6)、Discussionは4定型スロット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72200" y="3739896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739896"/>
            <a:ext cx="1143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まとめ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43800" y="3739896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再宣言→特徴と貢献の再掲→実験総括→ global human-health 系の定番の着地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4809744"/>
            <a:ext cx="11155680" cy="1280160"/>
          </a:xfrm>
          <a:prstGeom prst="roundRect">
            <a:avLst>
              <a:gd name="adj" fmla="val 5714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919472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組版の掟（paper-composition-checker が H-X01〜18 で自動検査）：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定型句・signature動詞（propose / present / define / realize / switch / adapt / apply）・自己引用常設リストは改変しない／手法名は全章で一字一句同一／2章の記号系を3章でそのまま実装／アブスト⑤の貢献＝5章の貢献／we・our統一・"Kansei"ローマ字維持。IMRAD基準（7割法則・Results解釈禁止）は適用しない。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 / 43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執筆型の決定（清木系）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箱テンプレ定型句の実例 ─ グレー＝箱（改変禁止）／〈　〉＝可変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アブスト③ 提案宣言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154680" y="14173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propose the 〈Method Name〉, which 〈what it realizes〉.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075688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7568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アブスト④ 本質的特徴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54680" y="207568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essential feature of 〈Method〉 is ... : 1) 〈...〉, 2) 〈...〉.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734056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3405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アブスト⑤ 貢献リスト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54680" y="273405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contributions are summarized as follows: 1) 〈...〉, 2) 〈...〉.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392424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39242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アブスト⑥ 実験予告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54680" y="3392424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our experiment, we 〈...〉 to demonstrate the feasibility and effectiveness of our method in the field of 〈fields〉.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050792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0507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1章 段落5 本提案予告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54680" y="40507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this paper, we present/propose 〈Method〉 ... The overall picture ... is illustrated in Figure 1.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70916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7091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数式後の記号説明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54680" y="4709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indicates 〈meaning of X〉.　── 縦に同じ文型で統一する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5367528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36752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5章 Future work の着地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154680" y="536752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global human-health ... world-wide scope 系の定番のオチで閉じる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6071616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6163056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整合の要（H-Xチェック）：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アブスト⑤の貢献リスト＝5章の貢献リスト（項目・順序一致）。手法名は章題・アブスト・1章・2章・5章で一字一句同じ。signature動詞（propose / present / define / realize / switch / adapt / apply）と we / our を全章で貫く。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 / 43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執筆型の決定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なぜ「型」が格好良いのか ─ そして分野・種別による違い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481328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読み手の時間を奪わない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1828800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「この章には何が書いてあるはず」が予測できる構造は読みやすさが段違い。読み手への敬意の表明。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2670048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2779776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事実と解釈を分離できる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3127248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Results に解釈を混ぜず Discussion で意味を論じる ── この分離ができている論文は知的に誠実だと評価される。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3968496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" y="4078224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国際的な共通言語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4425696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どの国・大学院でも同じ章立てが標準。「作法を学んだ研究者」と判断され、内容議論の前段階の信頼を得る。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531266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「型を守れる人だけが、必要な場面で型を破ることができる。」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06440" y="1371600"/>
            <a:ext cx="5852160" cy="4434840"/>
          </a:xfrm>
          <a:prstGeom prst="roundRect">
            <a:avLst>
              <a:gd name="adj" fmla="val 1649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7608" y="1499616"/>
            <a:ext cx="5449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分野・媒体による傾向（投稿前に Author Guidelines と最近の掲載論文を必ず確認）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35040" y="210312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医学・生命科学　</a:t>
            </a:r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IMRAD 厳格。章名は Materials and Methods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35040" y="248716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心理学・社会科学　</a:t>
            </a:r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ILMRAD が一般的。APA も IMRAD 推奨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35040" y="2871216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情報科学（会議）　</a:t>
            </a:r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IMRD ベース。Results＋Discussion 統合も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35040" y="325526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情報科学（ジャーナル）　</a:t>
            </a:r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ILMRAD 寄り。体系的整理が求められる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35040" y="363931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工学全般　</a:t>
            </a:r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IMRD ベース。統合も一般的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35040" y="402336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人文科学　</a:t>
            </a:r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IMRAD 原則不適用。議論展開が軸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35040" y="4498848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論文種別：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原著論文＝本資料の対象（IMRAD / ILMRAD）。系統的レビュー＝PRISMA、症例報告＝CARE、論説＝テーマ別構成に従う（対象外）。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28 / 43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国際トップジャーナルの流儀（岡宗一先生フィードバック 1・2）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"We propose" で始めない ─ 冒頭の一文で勝負する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FDF0F0"/>
          </a:solidFill>
          <a:ln w="12700">
            <a:solidFill>
              <a:srgbClr val="EAC6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❌ 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"This paper proposes the 10 Senses Model, an epistemologically grounded evaluation framework..."</a:t>
            </a:r>
            <a:pPr indent="0" marL="0">
              <a:buNone/>
            </a:pPr>
            <a:r>
              <a:rPr lang="en-US" sz="1050" dirty="0">
                <a:solidFill>
                  <a:srgbClr val="B0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── 実質 "We propose"。自己紹介から始まる＝一番強い場所（第1文）に一番弱い文を置いている。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60604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✅ 代替となる3つの冒頭構文（Muto・Oka クラスの書き方）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999232"/>
            <a:ext cx="11155680" cy="603504"/>
          </a:xfrm>
          <a:prstGeom prst="roundRect">
            <a:avLst>
              <a:gd name="adj" fmla="val 12121"/>
            </a:avLst>
          </a:prstGeom>
          <a:solidFill>
            <a:srgbClr val="EAF6EE"/>
          </a:solidFill>
          <a:ln w="12700">
            <a:solidFill>
              <a:srgbClr val="BFDC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99923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6B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フレームワーク名を主語に（宣言的構文）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09160" y="2999232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10 Senses Model is a general-purpose evaluation framework...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694176"/>
            <a:ext cx="11155680" cy="603504"/>
          </a:xfrm>
          <a:prstGeom prst="roundRect">
            <a:avLst>
              <a:gd name="adj" fmla="val 12121"/>
            </a:avLst>
          </a:prstGeom>
          <a:solidFill>
            <a:srgbClr val="EAF6EE"/>
          </a:solidFill>
          <a:ln w="12700">
            <a:solidFill>
              <a:srgbClr val="BFDC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69417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6B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問題・破綻を先頭に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09160" y="3694176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Conventional AI evaluation metrics fail systematically when...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4389120"/>
            <a:ext cx="11155680" cy="603504"/>
          </a:xfrm>
          <a:prstGeom prst="roundRect">
            <a:avLst>
              <a:gd name="adj" fmla="val 12121"/>
            </a:avLst>
          </a:prstGeom>
          <a:solidFill>
            <a:srgbClr val="EAF6EE"/>
          </a:solidFill>
          <a:ln w="12700">
            <a:solidFill>
              <a:srgbClr val="BFDC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438912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6B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発見・数字を先頭に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09160" y="4389120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17.1% discrepancy rate between subjective and objective...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5138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続きを読ませる3つのフック：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外な発見「6回に1回、AIの推奨は間違っていた」／未解決の問い「AIが正しくても患者が従わないのはなぜか」／パラダイム破壊「精度が高ければ正しいか？否」。新規性があるなら1ページ目で強く主張してよい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5769864"/>
            <a:ext cx="11155680" cy="713232"/>
          </a:xfrm>
          <a:prstGeom prst="roundRect">
            <a:avLst>
              <a:gd name="adj" fmla="val 10256"/>
            </a:avLst>
          </a:prstGeom>
          <a:solidFill>
            <a:srgbClr val="0E2A4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769864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7文法・箱テンプレとの整合：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提案宣言（7文法4文目・箱③ "we propose"）は中盤に置くもの。冒頭は1〜3文目で引き込み、トップ誌では宣言をフレームワーク主語構文へ格上げする。参考：武藤佳恭（武蔵野大学）・岡宗一（NTT IOWN総合イノベーションセンタ）の海外論文。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29 / 43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国際トップジャーナルの流儀（岡宗一先生フィードバック 3・4）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数字に意味を与え、具体 → 抽象の順で書く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1790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FB3：数字が良いのか悪いのか、必ず書く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901952"/>
            <a:ext cx="50292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B0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❌「17.1%のセッションで乖離（無視できない）」── 比較基準がなく、読者は重大性を判断できない。</a:t>
            </a: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E6B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✅ 3段階で意味を与える：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換算：「約6回に1回」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類推：「6人に1人の患者で誤る診断システムは、精度100%でも危険と見なされる」── 既存の精度指標ではこのギャップを検出できない、と比較基準を明示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ステークス：「VDOT 73–76（五輪・世界選手権級）の選手には、誤った過負荷処方1回が数ヶ月の周期化を崩し、4年に一度の機会を失わせうる」── 重大性は読者（ユーザー）の水準で非線形にスケールする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72200" y="137160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1790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FB4：抽象と具体の順序（EJC対応）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1901952"/>
            <a:ext cx="50292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B0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❌ フレームワーク → 動機 → 発見（提案論文の目次を読まされる感覚）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1E6B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✅ 具体的発見 → 普遍的な意味 → フレームワークで一般化（Nature / Science 流）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EJC の「コンセプチュアル好み」＝抽象的でよい、ではない。「高い抽象度で明確な貢献を主張する」こと。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具体例（スポーツコーチング）は理論を補強するものとして配置し、哲学用語（古代ギリシャ三元論など）は発見の後に置く。抽象的な議論が続くときは具体例を1文足す。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548640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0E2A4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54864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compiler v2 での運用：writeモードは数字スロットに「換算・類推・ステークス」の3点セットを要求し、audit は解釈のない数字を ⚠️ として検出する（充足質問つき）。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 / 43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4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論文執筆 ─ paper-compiler v2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5212080" cy="3977640"/>
          </a:xfrm>
          <a:prstGeom prst="roundRect">
            <a:avLst>
              <a:gd name="adj" fmla="val 206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LESSONS LEARNED ─ このパートの要点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設計は3軸（型A〜D × フェーズP1〜P4 × venue）。フェーズは「許される主張」の契約で、過剰主張は⚠️検出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compiler v2 は write / review / audit の3モード。❌/⚠️＋充足質問＋黄色網掛けで収束を機械化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paper_template は4部構成。②Literature Review は literature-reviewer が生成し ⚠️＝出典不明・要確認を明示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修正提案はWordネイティブ（コメント＋変更履歴・著者名 Yusuke Takahashi）── インライン注記は禁止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0936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8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SECTION CONTENTS ─ 収録スライド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69748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p.32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論文設計の3軸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309360" y="312724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p.33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骨格選択とA/B判定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09360" y="355701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p.34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compiler v2 の3モード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09360" y="398678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p.35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write / review ループと黄網掛け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09360" y="441655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p.36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paper_template ─ 4部構成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09360" y="484632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p.37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literature-reviewer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09360" y="527608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p.38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audit ─ 18項目監査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09360" y="570585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p.39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Wordコメント・変更履歴の規定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31 / 43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4  ─  論文執筆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論文設計の3軸 ─ 型 × フェーズ × 投稿先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軸1：提案形式（型）─ Methods/提案章の内部構造が変わる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2743200" cy="859536"/>
          </a:xfrm>
          <a:prstGeom prst="roundRect">
            <a:avLst>
              <a:gd name="adj" fmla="val 8511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8105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　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アーキテクチャ提案型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" y="221284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概念→N要素→主関数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310128" y="1737360"/>
            <a:ext cx="2743200" cy="859536"/>
          </a:xfrm>
          <a:prstGeom prst="roundRect">
            <a:avLst>
              <a:gd name="adj" fmla="val 8511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38144" y="18105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　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アルゴリズム型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38144" y="221284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Step列→要素定義→統合関数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17336" y="1737360"/>
            <a:ext cx="2743200" cy="859536"/>
          </a:xfrm>
          <a:prstGeom prst="roundRect">
            <a:avLst>
              <a:gd name="adj" fmla="val 8511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5352" y="18105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　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 / アーティファクト型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45352" y="221284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要求→設計判断→実装→運用知見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24544" y="1737360"/>
            <a:ext cx="2743200" cy="859536"/>
          </a:xfrm>
          <a:prstGeom prst="roundRect">
            <a:avLst>
              <a:gd name="adj" fmla="val 8511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18105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　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実証研究型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52560" y="221284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RQ→デザイン→分析→倫理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2761488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軸2：研究フェーズ ＝ 評価の契約 ─ 「許される主張」が変わる（過剰主張は⚠️検出）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3127248"/>
            <a:ext cx="2743200" cy="932688"/>
          </a:xfrm>
          <a:prstGeom prst="roundRect">
            <a:avLst>
              <a:gd name="adj" fmla="val 784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" y="320040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P1　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ポジション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" y="358444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予備実験 → feasibility まで。有効性の断定は禁止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10128" y="3127248"/>
            <a:ext cx="2743200" cy="932688"/>
          </a:xfrm>
          <a:prstGeom prst="roundRect">
            <a:avLst>
              <a:gd name="adj" fmla="val 784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38144" y="320040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P2　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38144" y="358444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動くシステム＋定性評価。統計的一般化は禁止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17336" y="3127248"/>
            <a:ext cx="2743200" cy="932688"/>
          </a:xfrm>
          <a:prstGeom prst="roundRect">
            <a:avLst>
              <a:gd name="adj" fmla="val 784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5352" y="320040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P3　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45352" y="358444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定量・統計評価＋アブレーション → 有効性・優位性OK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924544" y="3127248"/>
            <a:ext cx="2743200" cy="932688"/>
          </a:xfrm>
          <a:prstGeom prst="roundRect">
            <a:avLst>
              <a:gd name="adj" fmla="val 784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0" y="320040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P4　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領域応用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052560" y="358444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定性＋定量・専門家関与 → 実領域での有用性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4242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軸3：投稿先（venue）─ 要求される厳密さが変わる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02920" y="4590288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国内研究会 / WS　→　国際会議　→　トップ会議・ジャーナル　→　EJC・IOS Press系（清木系）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5020056"/>
            <a:ext cx="11155680" cy="658368"/>
          </a:xfrm>
          <a:prstGeom prst="roundRect">
            <a:avLst>
              <a:gd name="adj" fmla="val 11111"/>
            </a:avLst>
          </a:prstGeom>
          <a:solidFill>
            <a:srgbClr val="0E2A47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02005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フェーズ×venue の掛け算で必要な実験セット・評価指標・サンプル規模・倫理記述を導出（evaluation-planner が担当）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 / 43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4  ─  論文執筆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骨格の選択ルールと A/B 判定プロトコル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0E2A47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骨格の選択ルール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デフォルトは IMRAD（paper-blueprint-designer）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箱テンプレ5章は 型A・B × EJC・IOS Press系 のみ（paper-composer ＋ composition-checker）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型C・Dは常にIMRAD。骨格を混在させない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172200" y="14173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0" y="15727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A/B判定プロトコル（流し込みエディタ由来）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0" y="1956816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システム／概念モデル／構成要素が中心 → A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手順／ステップ／入力→計算→出力が中心 → B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推定した型を出力の冒頭に明示（「採用バージョン：A」）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判断が割れる場合のみ一度だけ確認。箱にない構成を足さない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931920"/>
            <a:ext cx="11155680" cy="1463040"/>
          </a:xfrm>
          <a:prstGeom prst="roundRect">
            <a:avLst>
              <a:gd name="adj" fmla="val 5000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06908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骨格が違っても「スロット行列」は共通語彙。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IMRAD＝T（Title/Abstract）→ I → R（Related Work）→ M（型で差替）→ E（フェーズ×venueで水準差替）→ D → C → REF。箱テンプレ＝HA（アブスト①〜⑥）→ H1〜H5 → H-REF ＋ 章間整合 H-X01〜18。write は生成、review は検査 ── 同一機構の裏表として動く。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 / 43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4  ─  論文執筆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paper-compiler v2 ─ write / review / audit の3モード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旧 paper-review-imrad を吸収し、執筆・改稿・投稿前監査を1スキルに統合。入力とトリガーで自動振り分けする。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2376" y="1947672"/>
            <a:ext cx="3172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22376" y="2350008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22376" y="2697480"/>
            <a:ext cx="317296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" y="269748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素材のみ／「論文にして」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22376" y="3319272"/>
            <a:ext cx="3172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素材→スロット写像→ドラフト全文生成＋ギャップ検出。骨格の形式文体（7文法・箱定型句）で書く。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88536" y="178308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07992" y="1947672"/>
            <a:ext cx="3172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07992" y="2350008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収束ループ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07992" y="2697480"/>
            <a:ext cx="317296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269748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ドラフトvX／「足りないものは」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07992" y="3319272"/>
            <a:ext cx="3172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スロット行列で検査→❌/⚠️＋充足質問→回答→再コンパイル→vX+1。DOCXのレビュー履歴を更新。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74152" y="178308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93608" y="1947672"/>
            <a:ext cx="3172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93608" y="2350008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単発監査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93608" y="2697480"/>
            <a:ext cx="317296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403336" y="269748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完成稿／「投稿前チェック」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93608" y="3319272"/>
            <a:ext cx="3172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18項目の合否ゲート（paper-auditor）。その場で完結。❌3件以上 or HIGH指摘 → review への移行を提案。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4636008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745736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references（-er形式のエージェント名で統一）：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paper-blueprint-designer（IMRAD設計図＋7文法）／ paper-composer（箱テンプレ原本）／ paper-composition-checker（H-X整合＋A/B判定）／ paper-auditor（18項目）／ evaluation-planner（型×フェーズ×venue）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34 / 43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4  ─  論文執筆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write / review ループの回し方 ─ ❌を潰せば論文が完成する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139696" cy="1188720"/>
          </a:xfrm>
          <a:prstGeom prst="roundRect">
            <a:avLst>
              <a:gd name="adj" fmla="val 6154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55448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1901952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箇条書き・議事録・文字起こし・メモ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615184" y="1847088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79776" y="1463040"/>
            <a:ext cx="2139696" cy="1188720"/>
          </a:xfrm>
          <a:prstGeom prst="roundRect">
            <a:avLst>
              <a:gd name="adj" fmla="val 6154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8648" y="155448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写像表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98648" y="1901952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素材の各項目→スロットの対応表を先に提示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92040" y="1847088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56632" y="1463040"/>
            <a:ext cx="2139696" cy="1188720"/>
          </a:xfrm>
          <a:prstGeom prst="roundRect">
            <a:avLst>
              <a:gd name="adj" fmla="val 6154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75504" y="155448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生成＋検出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75504" y="1901952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全文生成。❌欠落/⚠️部分的＋充足質問を添付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68896" y="1847088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33488" y="1463040"/>
            <a:ext cx="2139696" cy="1188720"/>
          </a:xfrm>
          <a:prstGeom prst="roundRect">
            <a:avLst>
              <a:gd name="adj" fmla="val 6154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155448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回答・加筆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52360" y="1901952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充足質問に答える（執筆労力は最小限）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445752" y="1847088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10344" y="1463040"/>
            <a:ext cx="2139696" cy="1188720"/>
          </a:xfrm>
          <a:prstGeom prst="roundRect">
            <a:avLst>
              <a:gd name="adj" fmla="val 6154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29216" y="155448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再コンパイル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29216" y="1901952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vX+1・レビュー履歴に4項目追記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2788920"/>
            <a:ext cx="11155680" cy="457200"/>
          </a:xfrm>
          <a:prstGeom prst="roundRect">
            <a:avLst>
              <a:gd name="adj" fmla="val 14000"/>
            </a:avLst>
          </a:prstGeom>
          <a:solidFill>
            <a:srgbClr val="EAF6EE"/>
          </a:solidFill>
          <a:ln w="12700">
            <a:solidFill>
              <a:srgbClr val="BFDC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27889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B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収束：❌＝0 かつ HIGHの⚠️＝0 →「投稿可能版」→ 初期質問・レビュー履歴を削除し venue テンプレへ流し込み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42900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FF9DB"/>
          </a:solidFill>
          <a:ln w="12700">
            <a:solidFill>
              <a:srgbClr val="E8D9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5661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要入力スロット＝黄色網掛け（v2新仕様）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" y="39319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埋められない〔　〕には DOCX 内で黄色の文字網掛けを付け、充足質問をコメントでアンカー。開いた瞬間に「あとどこを埋めれば完成か」が見える。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充足したら解除。投稿版で黄色ゼロを確認（＝未充足検出）。旧・色分けHTMLは廃止。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72200" y="342900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35661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3つの原則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0" y="39319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指摘だけは禁止：❌/⚠️には必ず充足質問か下書き案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必ず褒める：✅（良くできている点）を必ず言語化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でっち上げ禁止：実験結果・数値・引用はユーザーが与えない限り生成しない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 / 43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4  ─  論文執筆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📄 paper_template ─ 4部構成で論文の全履歴を1ファイルに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88336" cy="2194560"/>
          </a:xfrm>
          <a:prstGeom prst="roundRect">
            <a:avLst>
              <a:gd name="adj" fmla="val 3333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609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04088" y="19019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初期質問シート（Q1〜Q12）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04088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仮タイトル・型・フェーズ・venue・骨格・言語・手法名・中核主張・著者・締切・素材・版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54680" y="23774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19272" y="1463040"/>
            <a:ext cx="2688336" cy="2194560"/>
          </a:xfrm>
          <a:prstGeom prst="roundRect">
            <a:avLst>
              <a:gd name="adj" fmla="val 3333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1609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20440" y="19019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Literature Review（関連研究）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20440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literature-reviewer が生成・更新。書誌＋平易な概要＋本文URL（⚠️＝出典不明・要確認）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71032" y="23774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35624" y="1463040"/>
            <a:ext cx="2688336" cy="2194560"/>
          </a:xfrm>
          <a:prstGeom prst="roundRect">
            <a:avLst>
              <a:gd name="adj" fmla="val 333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36792" y="1609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36792" y="19019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レビュー履歴テーブル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36792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版ごとに ✅／❌⚠️件数（前版比）／HIGH／充足質問 の4項目。最新版が最上段。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787384" y="23774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51976" y="1463040"/>
            <a:ext cx="2688336" cy="2194560"/>
          </a:xfrm>
          <a:prstGeom prst="roundRect">
            <a:avLst>
              <a:gd name="adj" fmla="val 333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53144" y="1609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53144" y="19019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論文ドラフト領域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153144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骨格スロットで生成・追記。未充足は ❌/⚠️＋黄色網掛け＋コメント。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86200"/>
            <a:ext cx="11155680" cy="658368"/>
          </a:xfrm>
          <a:prstGeom prst="roundRect">
            <a:avLst>
              <a:gd name="adj" fmla="val 11111"/>
            </a:avLst>
          </a:prstGeom>
          <a:solidFill>
            <a:srgbClr val="0E2A47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886200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命名：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{YYYYMMDD}_#{VENUE}_{SHORT_TITLE}_@{FIRST_AUTHOR}_{LANG}_vX.docx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69087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・改稿のたびに vX +1、日付を当日に更新（例：20260706_#EJC2027_TimeAxisSynth_@Takahashi_JA_v0.docx）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・①②③は投稿版まで維持。投稿版では ✅文献を References へ転記して②を削除し、①③と黄色網掛けも一掃する（⚠️文献は転記しない）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36 / 43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4  ─  論文執筆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literature-reviewer ─ 参考文献の調査・平易な要約・URL検証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563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58191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リスト作成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22376" y="2075688"/>
            <a:ext cx="3172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web検索で実在を確認し、書誌（著者・年・タイトル・venue）を確定。「7割・2020年以降」を目安に構成し、構成比を報告。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88536" y="14173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9704" y="1563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928616" y="158191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中学生でもわかる概要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07992" y="2075688"/>
            <a:ext cx="3172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各文献を数行で平易に要約。「何を・どうやって・何がわかった」を専門用語を言い換えて説明（直訳・コピーは禁止）。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74152" y="14173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1563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714232" y="158191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本文URLの検証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93608" y="2075688"/>
            <a:ext cx="3172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DOI → 出版社 → PubMed/PMC → arXiv（preprint明記）の順で特定し、実際の到達を確認。確認できなければ ⚠️ 出典不明・要確認＋確認方法を添付。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61188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3989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paper-compiler から呼び出し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408736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paper_template の「①初期質問テーブル」と「③レビュー履歴」の間に、改ページで ②Literature Review（関連研究）を挿入・更新。audit 項目08〜11に⚠️が出たときも呼び出しを提案。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61188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73989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research-proposer から呼び出し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0" y="408736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プロポーザルの最後（「6. FAQ・想定問答」の後）に改ページで配置。改稿のたびに上書き更新し、版管理はホスト文書の vX に従う。単独でも「参考文献リストを作って」で起動できる。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534924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0E2A47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3492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でっち上げ禁止（最重要）：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実在未確認の文献・DOI・URLは生成しない。確認できなければ必ず ⚠️。⚠️の文献は解消まで本文 References に転記しない。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2179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分業：研究開始時の探索・虎の巻（トップ研究者・トピック地図・世界線・候補文献）は literature-researcher が担当し、候補リストを本スキルへ引き継ぐ。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37 / 43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4  ─  論文執筆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audit ─ 投稿前18項目監査（paper-auditor）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724912" cy="3063240"/>
          </a:xfrm>
          <a:prstGeom prst="roundRect">
            <a:avLst>
              <a:gd name="adj" fmla="val 2685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54533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 構成・投稿準備（01–04）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67512" y="2103120"/>
            <a:ext cx="23957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原著論文であることの確認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IMRAD / ILMRAD の選択を投稿先で確認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Mの章名（Methods / Materials and Methods）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Titleの情報密度・検索キーワード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19272" y="1417320"/>
            <a:ext cx="2724912" cy="3063240"/>
          </a:xfrm>
          <a:prstGeom prst="roundRect">
            <a:avLst>
              <a:gd name="adj" fmla="val 2685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83864" y="154533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 Abstract（05–07）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83864" y="2103120"/>
            <a:ext cx="23957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Working Abstract の痕跡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Final は本文完成後に書き直し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Abstract＋図表だけで骨格が伝わる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35624" y="1417320"/>
            <a:ext cx="2724912" cy="3063240"/>
          </a:xfrm>
          <a:prstGeom prst="roundRect">
            <a:avLst>
              <a:gd name="adj" fmla="val 2685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0216" y="154533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 参考文献（08–11）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00216" y="2103120"/>
            <a:ext cx="23957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Supplementary への切り出し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 7割・2020年以降（箱テンプレはN/A）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arXiv は preprint 明記（AI/ML可）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引用形式が投稿先と一致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951976" y="1417320"/>
            <a:ext cx="2724912" cy="3063240"/>
          </a:xfrm>
          <a:prstGeom prst="roundRect">
            <a:avLst>
              <a:gd name="adj" fmla="val 2685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16568" y="154533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 各章の役割（12–17）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16568" y="2103120"/>
            <a:ext cx="23957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 I：ギャップと貢献の明示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 L：論点ごとの整理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 M：再現可能なレベル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 R：解釈を混ぜない（箱はN/A）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 D：比較・限界・含意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 Conclusionの置き方を意識的に選択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4645152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7548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 閉世界の論理（18・7文法／浦木・v2新設）：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Abstract と Introduction 前半で、①人間なら〜する → ②システム上で未実現 → ③重要課題 → ④提案、の前半4文が順序どおり読み取れるか。世界観が広がりすぎていないか。順序乱れ・一部欠落は⚠️（挿入案を添付）。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5742432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判定：✅ ❌ ⚠️ N/A（根拠引用必須）　総合評価：合格／要修正／要大幅修正　→ ❌3件以上 or HIGH指摘 で review へ移行提案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38 / 43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4  ─  論文執筆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修正提案は Word ネイティブで ─ コメント＋変更履歴の規定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" y="1591056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語句・文の書き換え提案 → 変更履歴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22376" y="1975104"/>
            <a:ext cx="5047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挿入・削除を tracked changes で記録。ユーザーが Word 上で承認 / 却下できる形にする。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1656" y="1591056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理由・充足質問・代替案 → コメント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91656" y="1975104"/>
            <a:ext cx="5047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該当テキストにアンカー。特定箇所に紐づく充足質問はギャップレポートとコメントの両方に置く。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2962656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スロット欠落時のみ 〔　〕＋❌＋黄網掛け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2376" y="3346704"/>
            <a:ext cx="5047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本文のあるべき位置にプレースホルダを置き、そこにコメントで充足質問をアンカーする。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283464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1656" y="2962656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インライン注記は禁止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91656" y="3346704"/>
            <a:ext cx="5047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本文中に〔コメント：…〕のような注記を書き込まない。履歴テーブルには要約のみ（二重管理しない）。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34340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0E2A4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43484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著者名の規定：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コメント・変更履歴の著者は必ず Yusuke Takahashi（"Claude" や "paper-compiler" を使わない）。出力前に validate.py --original で検証（tracked changes を含むため必須）。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39 / 43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4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リソースと使い分け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5212080" cy="3977640"/>
          </a:xfrm>
          <a:prstGeom prst="roundRect">
            <a:avLst>
              <a:gd name="adj" fmla="val 206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LESSONS LEARNED ─ このパートの要点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資料は本書1冊＋5スキル（starter / proposer / compiler v2 / literature-researcher / reviewer）で自己完結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旧 research-project-plan・paper-review-imrad（JA/EN）は起動が競合するため削除する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迷ったら「状況→スキル」のフローチャート。v0リレー（starter→proposer→compiler）で全工程が接続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0936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8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SECTION CONTENTS ─ 収録スライド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69748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p.41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リソースカタログ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309360" y="312724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p.42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使い分けフローチャート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 / 43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5  ─  リソースと使い分け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リソースカタログ ─ 本資料＋5スキルで自己完結</a:t>
            </a:r>
            <a:endParaRPr lang="en-US" sz="26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188720"/>
                <a:gridCol w="3017520"/>
                <a:gridCol w="33832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リソース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形式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使う場面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備考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本資料〔学習統合版〕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📖 資料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6フェーズ・執筆型の決定・論文執筆のすべてを1冊で学ぶ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研究スタートガイドv9・章立て入門v8 の内容を全収録（本資料のみで自己完結）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research-starter ＋ research_start_template v0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⚙️＋📄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はじめの一歩の伴走・進捗管理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v0が無くても会話で起動。Phase順を機械化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research-proposer ＋ proposal_template v0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⚙️＋📄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プロジェクト・共同研究の立ち上げ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旧 research-project-plan を置換（旧は削除）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paper-compiler v2 ＋ paper_template v0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⚙️＋📄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執筆・改稿・投稿前監査のすべて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write/review/audit。旧 paper-review-imrad を吸収（旧は削除）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└ references（compiler v2 内蔵・-er名）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内蔵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blueprint-designer / composer / composition-checker / auditor / evaluation-planner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浦木メソッド（7文法・箱テンプレ）を収録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literature-researcher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⚙️ Skill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研究開始時の虎の巻づくり（探索担当）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starter Phase04 から呼び出し。トップ研究者・地図・世界線・候補文献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literature-reviewer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⚙️ Skill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文献の検証・平易な概要・URL確認（検証担当）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researcher から引き継ぎ／compiler・proposer が呼び出し。⚠️＝出典不明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760720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凡例：📖 資料（読む）　⚙️ Skill（1つの .skill ファイルをアップロード）　📄 テンプレ（複製して記入）　／　</a:t>
            </a:r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v0 ＝ 初期テンプレート版　／　取得: https://github.com/aix-sc/research-lifecycle-guide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605332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⚠️ 移行注意：旧 research-project-plan・paper-review-imrad（JA/EN）は起動が競合するため、新スキル登録前に削除する。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41 / 43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5  ─  リソースと使い分け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迷ったらここ ─ 使い分けフローチャート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9844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これから研究を始める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828032" y="129844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230368" y="1298448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D97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76672" y="12984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research-starter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95360" y="129844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会話で起動 → 6フェーズを順に伴走 → ResearchStart DOCX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956816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5681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プロジェクト・共同研究を立ち上げる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28032" y="195681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30368" y="1956816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D97E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76672" y="195681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research-proposer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595360" y="195681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「研究プロポーザル」で起動 → Proposal DOCX（キックオフ可能版へ）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615184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61518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執筆型を決めたい・型を学びたい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28032" y="261518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30368" y="2615184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0F6E8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6672" y="261518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📖 本資料 Part 3–4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95360" y="261518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IMRAD・7文法・箱テンプレ・3軸をこの1冊で学ぶ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3273552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27355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メモ・議事録から論文を書きたい／改稿したい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28032" y="327355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230368" y="3273552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6B5B9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327355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compiler v2（write/review）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95360" y="327355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paper_template v0 記入 → ❌/⚠️（黄網掛け）を潰すループ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3931920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93192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完成稿を投稿前に最終チェックしたい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28032" y="39319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230368" y="3931920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6B5B9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76672" y="39319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compiler v2（audit）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95360" y="393192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「投稿前チェック」で起動 → 18項目監査 → 投稿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" y="4590288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59028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トップ研究者と虎の巻を作りたい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28032" y="459028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230368" y="4590288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D97E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76672" y="45902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literature-researcher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595360" y="459028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探索：研究者リスト・トピック地図・世界線・候補文献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2920" y="5248656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524865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文献リスト・出典URLを検証したい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28032" y="524865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230368" y="5248656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D97E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76672" y="524865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literature-reviewer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595360" y="524865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検証：書誌＋平易な概要＋URL。⚠️＝出典不明・要確認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02920" y="5980176"/>
            <a:ext cx="11155680" cy="548640"/>
          </a:xfrm>
          <a:prstGeom prst="roundRect">
            <a:avLst>
              <a:gd name="adj" fmla="val 11667"/>
            </a:avLst>
          </a:prstGeom>
          <a:solidFill>
            <a:srgbClr val="0E2A47"/>
          </a:solidFill>
          <a:ln/>
        </p:spPr>
      </p:sp>
      <p:sp>
        <p:nvSpPr>
          <p:cNvPr id="47" name="Text 45"/>
          <p:cNvSpPr/>
          <p:nvPr/>
        </p:nvSpPr>
        <p:spPr>
          <a:xfrm>
            <a:off x="777240" y="598017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v0リレー：starter → proposer → compiler v2。文献は researcher（探索）→ reviewer（検証）が全工程を支援。file-naming-convention 準拠・JA/EN 同一バージョン。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v7 / 2026-07-09 / JA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42 / 43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B8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型を修めて、研究自体に集中しよう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91640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691640" y="169164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はじめの一歩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931920" y="169164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ORCID → 問い・仮説 → ブランディング → 文献 → 投稿先 → 執筆力。research-starter が伴走。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2478024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478024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91640" y="2478024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研究開始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931920" y="2478024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research-proposer で計画書を作り、「誰が・何を・いつ」を最初に固める。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264408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264408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91640" y="326440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執筆型の決定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931920" y="3264408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IMRAD が基本。アブストは7文法で閉世界を作る。箱テンプレは 型A/B × EJC系 のみ。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4050792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050792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91640" y="4050792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論文執筆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931920" y="4050792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paper_template → compiler v2（write/review）で ❌/⚠️ を潰す。文献は researcher / reviewer が整備。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520" y="4837176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837176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691640" y="4837176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投稿前監査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931920" y="4837176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compiler v2（audit）の18項目で合否判定し、✅が揃ったら投稿する。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31520" y="5696712"/>
            <a:ext cx="10698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⬇ Skills はここから取得: https://github.com/aix-sc/research-lifecycle-guide（dist/ の .skill を Settings &gt; Skills へ）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6044184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8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Acknowledgment：岡 宗一 教授（武蔵野大学 データサイエンス学部）／ 浦木メソッド（アブスト7文法・箱テンプレA/B・流し込みエディタ）に基づく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6355080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3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武蔵野大学 データサイエンス学部  ｜  研究ライフサイクル統合ガイド〔学習統合版〕  v7 / 2026-07-09 / JA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研究ライフサイクル統合ガイド〔学習統合版〕 v7 JA</dc:title>
  <dc:subject>PptxGenJS Presentation</dc:subject>
  <dc:creator>Musashino University Faculty of Data Science</dc:creator>
  <cp:lastModifiedBy>Musashino University Faculty of Data Science</cp:lastModifiedBy>
  <cp:revision>1</cp:revision>
  <dcterms:created xsi:type="dcterms:W3CDTF">2026-07-09T13:19:27Z</dcterms:created>
  <dcterms:modified xsi:type="dcterms:W3CDTF">2026-07-09T13:19:27Z</dcterms:modified>
</cp:coreProperties>
</file>