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4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5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6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F2A37"/>
                </a:solidFill>
                <a:latin typeface="Yu Gothic"/>
              </a:defRPr>
            </a:pPr>
            <a:r>
              <a:rPr sz="1200" b="0" i="0" u="none" strike="noStrike">
                <a:solidFill>
                  <a:srgbClr val="1F2A37"/>
                </a:solidFill>
                <a:latin typeface="Yu Gothic"/>
              </a:rPr>
              <a:t>参照本数（中央値）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参照本数（中央値）</c:v>
                </c:pt>
              </c:strCache>
            </c:strRef>
          </c:tx>
          <c:spPr>
            <a:solidFill>
              <a:srgbClr val="E09F3E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F2A37"/>
                    </a:solidFill>
                    <a:latin typeface="Yu Gothic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09F3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8A97A6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T10</c:v>
                  </c:pt>
                  <c:pt idx="1">
                    <c:v>B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45.5</c:v>
                </c:pt>
                <c:pt idx="1">
                  <c:v>37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900" u="none">
                  <a:solidFill>
                    <a:srgbClr val="1F2A37"/>
                  </a:solidFill>
                  <a:latin typeface="Yu Gothic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F2A37"/>
                </a:solidFill>
                <a:latin typeface="Yu 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3E7EB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772"/>
                </a:solidFill>
                <a:latin typeface="Yu Gothic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F2A37"/>
                </a:solidFill>
                <a:latin typeface="Yu Gothic"/>
              </a:defRPr>
            </a:pPr>
            <a:r>
              <a:rPr sz="1200" b="0" i="0" u="none" strike="noStrike">
                <a:solidFill>
                  <a:srgbClr val="1F2A37"/>
                </a:solidFill>
                <a:latin typeface="Yu Gothic"/>
              </a:rPr>
              <a:t>Price 指数（5年以内比率）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Price 指数（5年以内比率）</c:v>
                </c:pt>
              </c:strCache>
            </c:strRef>
          </c:tx>
          <c:spPr>
            <a:solidFill>
              <a:srgbClr val="E09F3E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F2A37"/>
                    </a:solidFill>
                    <a:latin typeface="Yu Gothic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09F3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8A97A6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T10</c:v>
                  </c:pt>
                  <c:pt idx="1">
                    <c:v>B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0.571</c:v>
                </c:pt>
                <c:pt idx="1">
                  <c:v>0.468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900" u="none">
                  <a:solidFill>
                    <a:srgbClr val="1F2A37"/>
                  </a:solidFill>
                  <a:latin typeface="Yu Gothic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F2A37"/>
                </a:solidFill>
                <a:latin typeface="Yu 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3E7EB"/>
              </a:solidFill>
              <a:prstDash val="solid"/>
              <a:round/>
            </a:ln>
          </c:spPr>
        </c:majorGridlines>
        <c:numFmt formatCode="0.0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772"/>
                </a:solidFill>
                <a:latin typeface="Yu Gothic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F2A37"/>
                </a:solidFill>
                <a:latin typeface="Yu Gothic"/>
              </a:defRPr>
            </a:pPr>
            <a:r>
              <a:rPr sz="1200" b="0" i="0" u="none" strike="noStrike">
                <a:solidFill>
                  <a:srgbClr val="1F2A37"/>
                </a:solidFill>
                <a:latin typeface="Yu Gothic"/>
              </a:rPr>
              <a:t>参照先の被引用中央値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参照先の被引用中央値</c:v>
                </c:pt>
              </c:strCache>
            </c:strRef>
          </c:tx>
          <c:spPr>
            <a:solidFill>
              <a:srgbClr val="E09F3E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F2A37"/>
                    </a:solidFill>
                    <a:latin typeface="Yu Gothic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09F3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8A97A6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T10</c:v>
                  </c:pt>
                  <c:pt idx="1">
                    <c:v>B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208</c:v>
                </c:pt>
                <c:pt idx="1">
                  <c:v>146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900" u="none">
                  <a:solidFill>
                    <a:srgbClr val="1F2A37"/>
                  </a:solidFill>
                  <a:latin typeface="Yu Gothic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F2A37"/>
                </a:solidFill>
                <a:latin typeface="Yu 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3E7EB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772"/>
                </a:solidFill>
                <a:latin typeface="Yu Gothic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Cliff's δ (T10 vs B)</c:v>
                </c:pt>
              </c:strCache>
            </c:strRef>
          </c:tx>
          <c:spPr>
            <a:solidFill>
              <a:srgbClr val="E09F3E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F2A37"/>
                    </a:solidFill>
                    <a:latin typeface="Yu Gothic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Flesch 可読性</c:v>
                  </c:pt>
                  <c:pt idx="1">
                    <c:v>題名語数</c:v>
                  </c:pt>
                  <c:pt idx="2">
                    <c:v>題名文字数</c:v>
                  </c:pt>
                  <c:pt idx="3">
                    <c:v>ムーブ:目的</c:v>
                  </c:pt>
                  <c:pt idx="4">
                    <c:v>題名前置詞密度</c:v>
                  </c:pt>
                  <c:pt idx="5">
                    <c:v>題名コロン</c:v>
                  </c:pt>
                  <c:pt idx="6">
                    <c:v>アブスト語数</c:v>
                  </c:pt>
                  <c:pt idx="7">
                    <c:v>著者数（交絡）</c:v>
                  </c:pt>
                  <c:pt idx="8">
                    <c:v>参照年中央値</c:v>
                  </c:pt>
                  <c:pt idx="9">
                    <c:v>参照先の被引用</c:v>
                  </c:pt>
                  <c:pt idx="10">
                    <c:v>参照本数</c:v>
                  </c:pt>
                  <c:pt idx="11">
                    <c:v>Price 指数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-0.001</c:v>
                </c:pt>
                <c:pt idx="1">
                  <c:v>-0.001</c:v>
                </c:pt>
                <c:pt idx="2">
                  <c:v>-0.018</c:v>
                </c:pt>
                <c:pt idx="3">
                  <c:v>-0.041</c:v>
                </c:pt>
                <c:pt idx="4">
                  <c:v>-0.085</c:v>
                </c:pt>
                <c:pt idx="5">
                  <c:v>0.083</c:v>
                </c:pt>
                <c:pt idx="6">
                  <c:v>0.091</c:v>
                </c:pt>
                <c:pt idx="7">
                  <c:v>0.192</c:v>
                </c:pt>
                <c:pt idx="8">
                  <c:v>0.237</c:v>
                </c:pt>
                <c:pt idx="9">
                  <c:v>0.3</c:v>
                </c:pt>
                <c:pt idx="10">
                  <c:v>0.309</c:v>
                </c:pt>
                <c:pt idx="11">
                  <c:v>0.317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900" u="none">
                  <a:solidFill>
                    <a:srgbClr val="1F2A37"/>
                  </a:solidFill>
                  <a:latin typeface="Yu Gothic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F2A37"/>
                </a:solidFill>
                <a:latin typeface="Yu 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4"/>
          <c:min val="-0.2"/>
        </c:scaling>
        <c:delete val="0"/>
        <c:axPos val="b"/>
        <c:majorGridlines>
          <c:spPr>
            <a:ln w="6350" cap="flat">
              <a:solidFill>
                <a:srgbClr val="E3E7EB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772"/>
                </a:solidFill>
                <a:latin typeface="Yu Gothic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一般型</c:v>
                </c:pt>
              </c:strCache>
            </c:strRef>
          </c:tx>
          <c:spPr>
            <a:solidFill>
              <a:srgbClr val="0F4C5C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Yu Gothic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T10 (n=252)</c:v>
                  </c:pt>
                  <c:pt idx="1">
                    <c:v>B (n=705)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96.4</c:v>
                </c:pt>
                <c:pt idx="1">
                  <c:v>97.9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特定型</c:v>
                </c:pt>
              </c:strCache>
            </c:strRef>
          </c:tx>
          <c:spPr>
            <a:solidFill>
              <a:srgbClr val="E09F3E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Yu Gothic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T10 (n=252)</c:v>
                  </c:pt>
                  <c:pt idx="1">
                    <c:v>B (n=705)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3.6</c:v>
                </c:pt>
                <c:pt idx="1">
                  <c:v>2.1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900" u="none">
                  <a:solidFill>
                    <a:srgbClr val="FFFFFF"/>
                  </a:solidFill>
                  <a:latin typeface="Yu Gothic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F2A37"/>
                </a:solidFill>
                <a:latin typeface="Yu 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0"/>
        <c:axPos val="l"/>
        <c:majorGridlines>
          <c:spPr>
            <a:ln w="6350" cap="flat">
              <a:solidFill>
                <a:srgbClr val="E3E7EB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772"/>
                </a:solidFill>
                <a:latin typeface="Yu Gothic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latin typeface="Yu Gothic"/>
              <a:cs typeface="Yu Gothic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T10 筆頭著者</c:v>
                </c:pt>
              </c:strCache>
            </c:strRef>
          </c:tx>
          <c:spPr>
            <a:solidFill>
              <a:srgbClr val="E09F3E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F2A37"/>
                    </a:solidFill>
                    <a:latin typeface="Yu Gothic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venue 多様性</c:v>
                  </c:pt>
                  <c:pt idx="1">
                    <c:v>最頻 venue 比率</c:v>
                  </c:pt>
                  <c:pt idx="2">
                    <c:v>journal 比率</c:v>
                  </c:pt>
                  <c:pt idx="3">
                    <c:v>preprint 併用率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0.833</c:v>
                </c:pt>
                <c:pt idx="1">
                  <c:v>0.242</c:v>
                </c:pt>
                <c:pt idx="2">
                  <c:v>1</c:v>
                </c:pt>
                <c:pt idx="3">
                  <c:v>0.325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 筆頭著者</c:v>
                </c:pt>
              </c:strCache>
            </c:strRef>
          </c:tx>
          <c:spPr>
            <a:solidFill>
              <a:srgbClr val="8A97A6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F2A37"/>
                    </a:solidFill>
                    <a:latin typeface="Yu Gothic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venue 多様性</c:v>
                  </c:pt>
                  <c:pt idx="1">
                    <c:v>最頻 venue 比率</c:v>
                  </c:pt>
                  <c:pt idx="2">
                    <c:v>journal 比率</c:v>
                  </c:pt>
                  <c:pt idx="3">
                    <c:v>preprint 併用率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0.833</c:v>
                </c:pt>
                <c:pt idx="1">
                  <c:v>0.25</c:v>
                </c:pt>
                <c:pt idx="2">
                  <c:v>1</c:v>
                </c:pt>
                <c:pt idx="3">
                  <c:v>0.333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900" u="none">
                  <a:solidFill>
                    <a:srgbClr val="1F2A37"/>
                  </a:solidFill>
                  <a:latin typeface="Yu Gothic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F2A37"/>
                </a:solidFill>
                <a:latin typeface="Yu 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2"/>
        </c:scaling>
        <c:delete val="0"/>
        <c:axPos val="l"/>
        <c:majorGridlines>
          <c:spPr>
            <a:ln w="6350" cap="flat">
              <a:solidFill>
                <a:srgbClr val="E3E7EB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772"/>
                </a:solidFill>
                <a:latin typeface="Yu Gothic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latin typeface="Yu Gothic"/>
              <a:cs typeface="Yu Gothic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HIGH 語 ≥1 の抄録率（delve / intricate / pivotal / showcase / underscore…）</c:v>
                </c:pt>
              </c:strCache>
            </c:strRef>
          </c:tx>
          <c:spPr>
            <a:solidFill>
              <a:srgbClr val="B54A3C"/>
            </a:solidFill>
            <a:ln w="38100" cap="flat">
              <a:solidFill>
                <a:srgbClr val="B54A3C"/>
              </a:solidFill>
              <a:prstDash val="solid"/>
              <a:round/>
            </a:ln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F2A37"/>
                    </a:solidFill>
                    <a:latin typeface="Yu Gothic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B54A3C"/>
              </a:solidFill>
              <a:ln w="9525" cap="flat">
                <a:solidFill>
                  <a:srgbClr val="B54A3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2018</c:v>
                  </c:pt>
                  <c:pt idx="1">
                    <c:v>2019</c:v>
                  </c:pt>
                  <c:pt idx="2">
                    <c:v>2020</c:v>
                  </c:pt>
                  <c:pt idx="3">
                    <c:v>2021</c:v>
                  </c:pt>
                  <c:pt idx="4">
                    <c:v>2022</c:v>
                  </c:pt>
                  <c:pt idx="5">
                    <c:v>2023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4.1</c:v>
                </c:pt>
                <c:pt idx="1">
                  <c:v>5.7</c:v>
                </c:pt>
                <c:pt idx="2">
                  <c:v>1.7</c:v>
                </c:pt>
                <c:pt idx="3">
                  <c:v>3.3</c:v>
                </c:pt>
                <c:pt idx="4">
                  <c:v>3.6</c:v>
                </c:pt>
                <c:pt idx="5">
                  <c:v>6.8</c:v>
                </c:pt>
              </c:numCache>
            </c:numRef>
          </c:val>
          <c:smooth val="0"/>
        </c:ser>
        <c:dLbls>
          <c:numFmt formatCode="0.0&quot;%&quot;" sourceLinked="0"/>
          <c:txPr>
            <a:bodyPr/>
            <a:lstStyle/>
            <a:p>
              <a:pPr>
                <a:defRPr b="0" i="0" strike="noStrike" sz="900" u="none">
                  <a:solidFill>
                    <a:srgbClr val="1F2A37"/>
                  </a:solidFill>
                  <a:latin typeface="Yu Gothic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F2A37"/>
                </a:solidFill>
                <a:latin typeface="Yu 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9"/>
          <c:min val="0"/>
        </c:scaling>
        <c:delete val="0"/>
        <c:axPos val="l"/>
        <c:majorGridlines>
          <c:spPr>
            <a:ln w="6350" cap="flat">
              <a:solidFill>
                <a:srgbClr val="E3E7EB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772"/>
                </a:solidFill>
                <a:latin typeface="Yu Gothic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latin typeface="Yu Gothic"/>
              <a:cs typeface="Yu Gothic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5B6772"/>
                </a:solidFill>
                <a:latin typeface="Yu Gothic"/>
              </a:defRPr>
            </a:pPr>
            <a:r>
              <a:rPr sz="1000" b="0" i="0" u="none" strike="noStrike">
                <a:solidFill>
                  <a:srgbClr val="5B6772"/>
                </a:solidFill>
                <a:latin typeface="Yu Gothic"/>
              </a:rPr>
              <a:t>BROAD（不採用）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BROAD 語（crucial / comprehensive / robust…）≥1 の抄録率</c:v>
                </c:pt>
              </c:strCache>
            </c:strRef>
          </c:tx>
          <c:spPr>
            <a:solidFill>
              <a:srgbClr val="8A97A6"/>
            </a:solidFill>
            <a:ln w="25400" cap="flat">
              <a:solidFill>
                <a:srgbClr val="8A97A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F2A37"/>
                    </a:solidFill>
                    <a:latin typeface="Yu Gothic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8A97A6"/>
              </a:solidFill>
              <a:ln w="9525" cap="flat">
                <a:solidFill>
                  <a:srgbClr val="8A97A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2018</c:v>
                  </c:pt>
                  <c:pt idx="1">
                    <c:v>2019</c:v>
                  </c:pt>
                  <c:pt idx="2">
                    <c:v>2020</c:v>
                  </c:pt>
                  <c:pt idx="3">
                    <c:v>2021</c:v>
                  </c:pt>
                  <c:pt idx="4">
                    <c:v>2022</c:v>
                  </c:pt>
                  <c:pt idx="5">
                    <c:v>2023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47.7</c:v>
                </c:pt>
                <c:pt idx="1">
                  <c:v>45.7</c:v>
                </c:pt>
                <c:pt idx="2">
                  <c:v>46.5</c:v>
                </c:pt>
                <c:pt idx="3">
                  <c:v>58.6</c:v>
                </c:pt>
                <c:pt idx="4">
                  <c:v>54.7</c:v>
                </c:pt>
                <c:pt idx="5">
                  <c:v>61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F2A37"/>
                  </a:solidFill>
                  <a:latin typeface="Yu Gothic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F2A37"/>
                </a:solidFill>
                <a:latin typeface="Yu 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5"/>
          <c:min val="40"/>
        </c:scaling>
        <c:delete val="0"/>
        <c:axPos val="l"/>
        <c:majorGridlines>
          <c:spPr>
            <a:ln w="6350" cap="flat">
              <a:solidFill>
                <a:srgbClr val="E3E7EB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772"/>
                </a:solidFill>
                <a:latin typeface="Yu Gothic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研究プロポーザル v3 の E1（パイロット）結果報告。研究対象（論文の型）と研究手段（AI スキルによる分析）を一致させたメタ循環プロジェクトの最初の実データ。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結論から。5特徴＝参考文献系4つ＋著者数（交絡）。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RQ3 はプロセスログ（E4）の対象。E1 の実行自体がそのデータになった。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2,814 本。データは data/ に保存、リポジトリには入れない（.gitignore）。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T1 は DMKD が小さく実質空。指導価値が最大なのは B→T10 の移行（レポート§6）。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「5年で7割」は T10 中央値 0.57 → 0.7 は T10 の上位のみ。処方目標としては正しい方向。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著者数はチーム規模効果（既知の交絡）→ E2 では統制変数。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Sienkiewicz &amp; Altmann（430万本）の「journal 層で符号が反転」と整合。設計上、venue 効果を除去したので当然とも言える。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否定ではなく「検定の場所が違う」という知見。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キャリア長（作品数）も同じなので seniority 交絡もない。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2020 年の谷（1.7%）が基準の変動幅を示す。E2 で 2024–2025 を追加すれば決定的になる。個別判定を行わない理由：検出器は非ネイティブ著者に偏る（Liang et al. 2023）。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相関であり因果ではない。ゲーミング（引用の水増し）は推奨しない。参照先の質は「よく読んだ」の代理指標。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岡先生：トップ誌の規範・主張の絞り方。武藤先生：統計・分析手法・データ妥当性。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EJC 2027（人間–AI 役割分担の概念枠組み）の事例セクションに直結。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結果の表・スクリプトはすべて GitHub。データ（JSONL）はリポジトリに含めない。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chart" Target="/ppt/charts/chart3.xm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chart" Target="/ppt/charts/chart8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A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Paper Anatomy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8288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高被引用論文の「型」はどこにあるか — E1 パイロット分析の結果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4688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TKDE・PVLDB・DMKD 2018–2023｜2,814 本｜被引用層別（T10 vs B）×｛タイトル・アブスト・参考文献・著者 venue 戦略・AI 執筆痕跡｝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84048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5B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高橋雄介・浦木麻子（武蔵野大学 データサイエンス学部 / Asia AI Institute / AIx, Inc.）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AA5B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2026-08-31｜研究室内共有・岡宗一先生／武藤佳恭先生へのフィードバック依頼用｜v1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3行でわかる結果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7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パイロット（E1）の go/no-go 判定と主要知見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7A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Paper Anatomy — E1 パイロット結果（2026-08-31）｜AIx{} 浦木・高橋研究室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37160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09F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GO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1031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7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go/no-go 基準（|δ|≥0.147 の特徴 ≥3）を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B67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 特徴で達成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3246120" y="137160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F4C5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参考文献だけ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3246120" y="21031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7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同一 venue 内で被引用層を分けるのは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B67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参考文献リストの特徴のみ（δ≈0.3）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035040" y="137160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B54A3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×2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6035040" y="21031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7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LLM 特有語を含む抄録は 2023 年に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B67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約 2 倍（3.7%→6.8%）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3108960"/>
            <a:ext cx="8229600" cy="1371600"/>
          </a:xfrm>
          <a:prstGeom prst="roundRect">
            <a:avLst>
              <a:gd name="adj" fmla="val 5333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" y="324612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4C5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教育的含意（一言）：</a:t>
            </a:r>
            <a:pPr indent="0" marL="0">
              <a:buNone/>
            </a:pPr>
            <a:r>
              <a:rPr lang="en-US" sz="1500" dirty="0">
                <a:solidFill>
                  <a:srgbClr val="1F2A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トップ venue に入ってから引用されるかは「何をどう引いたか」で決まる。題名と要約は入場券であって、加点にはならない。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問い（RQ）と、このパイロットで答えたこと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7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研究プロポーザル v3 の RQ1〜RQ4 に対応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7A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Paper Anatomy — E1 パイロット結果（2026-08-31）｜AIx{} 浦木・高橋研究室</a:t>
            </a:r>
            <a:endParaRPr lang="en-US" sz="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4206240"/>
                <a:gridCol w="338328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RQ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問い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E1 の暫定回答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4C5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RQ1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被引用層（T10 vs B）で、タイトル・アブスト・参考文献の構造特徴はどう違うか？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参考文献のみ差あり。タイトル・アブストは差なし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4C5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RQ2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指導ヒューリスティクス（「5年で7割」「7文法」「コロン題名」）は実データで支持されるか？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「5年で7割」は方向◎・水準は T10 上位のみ。コロン等は層内で無効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4C5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RQ3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AI スキルでライフサイクルを遂行したとき、人間の介入はどこに残るか？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本実行で 3 件の介入（障害回復）を記録 → 後述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4C5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RQ4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高被引用論文の筆頭著者は投稿 venue にどんな戦略を持つか？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差なし（否定的結果）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どのデータを、なぜ使ったか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7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OpenAlex（CC0・API キー認証）から自動取得。venue×年ごとに被引用上位 200 本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7A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Paper Anatomy — E1 パイロット結果（2026-08-31）｜AIx{} 浦木・高橋研究室</a:t>
            </a:r>
            <a:endParaRPr lang="en-US" sz="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280160"/>
                <a:gridCol w="1463040"/>
                <a:gridCol w="1005840"/>
                <a:gridCol w="33832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venue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OpenAlex ID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種別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2018–23 取得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選定理由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IEEE TKDE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S30698027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誌（DB/KDD 中核）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1,200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分野旗艦誌・h=269・年 200 本以上で層が安定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PVLDB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S4210226185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会議録（VLDB）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1,200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会議成分を担保・h=196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DMKD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S121920818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誌（Springer）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414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DM 中核誌・h=141（年 53–91 本→T1 は実質空）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3063240"/>
            <a:ext cx="4023360" cy="1554480"/>
          </a:xfrm>
          <a:prstGeom prst="roundRect">
            <a:avLst>
              <a:gd name="adj" fmla="val 4706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94360" y="31546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4C5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なぜ OpenAlex か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594360" y="3502152"/>
            <a:ext cx="37490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・無料・CC0・引用ネットワーク（referenced_works）と著者 ID を同時取得可能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・Scopus/WoS 不要で再現性が高い（JOSS 投稿要件）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・2026-02 からキー必須・クレジット制 → 認証実装済み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663440" y="3063240"/>
            <a:ext cx="4023360" cy="1554480"/>
          </a:xfrm>
          <a:prstGeom prst="roundRect">
            <a:avLst>
              <a:gd name="adj" fmla="val 4706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800600" y="31546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4C5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なぜ 2018–2023・上位 200 本か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4800600" y="3502152"/>
            <a:ext cx="37490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・直近 2 年（2024–25）は引用窓が短く層判定が不安定 → 除外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・被引用上位 200/年で T10・M・B を十分確保（下位は B）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・KDD 会議本体は OpenAlex 上で断片化 → E2 で SIGKDD を再照会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分析設計：venue×年コホート内で被引用層を切る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7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引用分布は歪む・分野規範は違う → 同じ venue・同じ年の中でパーセンタイル比較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7A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Paper Anatomy — E1 パイロット結果（2026-08-31）｜AIx{} 浦木・高橋研究室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2011680" cy="3108960"/>
          </a:xfrm>
          <a:prstGeom prst="roundRect">
            <a:avLst>
              <a:gd name="adj" fmla="val 3636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463040"/>
            <a:ext cx="18288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18 コホート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（3 venue × 6 年）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各コホート内で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被引用数の順位を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パーセンタイル化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606040" y="2514600"/>
            <a:ext cx="548640" cy="457200"/>
          </a:xfrm>
          <a:prstGeom prst="rightArrow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91840" y="1280160"/>
            <a:ext cx="2377440" cy="658368"/>
          </a:xfrm>
          <a:prstGeom prst="roundRect">
            <a:avLst>
              <a:gd name="adj" fmla="val 11111"/>
            </a:avLst>
          </a:prstGeom>
          <a:solidFill>
            <a:srgbClr val="E09F3E"/>
          </a:solidFill>
          <a:ln w="12700">
            <a:solidFill>
              <a:srgbClr val="E09F3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383280" y="1280160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T1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上位 1%   n=30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291840" y="2057400"/>
            <a:ext cx="2377440" cy="658368"/>
          </a:xfrm>
          <a:prstGeom prst="roundRect">
            <a:avLst>
              <a:gd name="adj" fmla="val 11111"/>
            </a:avLst>
          </a:prstGeom>
          <a:solidFill>
            <a:srgbClr val="E09F3E"/>
          </a:solidFill>
          <a:ln w="12700">
            <a:solidFill>
              <a:srgbClr val="E09F3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383280" y="2057400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T10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上位 10%   n=252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291840" y="2834640"/>
            <a:ext cx="2377440" cy="658368"/>
          </a:xfrm>
          <a:prstGeom prst="roundRect">
            <a:avLst>
              <a:gd name="adj" fmla="val 11111"/>
            </a:avLst>
          </a:prstGeom>
          <a:solidFill>
            <a:srgbClr val="8A97A6"/>
          </a:solidFill>
          <a:ln w="12700">
            <a:solidFill>
              <a:srgbClr val="8A97A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383280" y="2834640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40–60%   n=564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291840" y="3611880"/>
            <a:ext cx="2377440" cy="658368"/>
          </a:xfrm>
          <a:prstGeom prst="roundRect">
            <a:avLst>
              <a:gd name="adj" fmla="val 11111"/>
            </a:avLst>
          </a:prstGeom>
          <a:solidFill>
            <a:srgbClr val="8A97A6"/>
          </a:solidFill>
          <a:ln w="12700">
            <a:solidFill>
              <a:srgbClr val="8A97A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383280" y="3611880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下位 25%   n=705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806440" y="2514600"/>
            <a:ext cx="548640" cy="457200"/>
          </a:xfrm>
          <a:prstGeom prst="rightArrow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92240" y="1280160"/>
            <a:ext cx="2194560" cy="3108960"/>
          </a:xfrm>
          <a:prstGeom prst="roundRect">
            <a:avLst>
              <a:gd name="adj" fmla="val 3333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629400" y="13716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4C5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比較と指標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629400" y="1719072"/>
            <a:ext cx="1920240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T10 vs B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Mann–Whitney U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＋ Cliff's δ（効果量）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|δ| &lt; 0.147 negligible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0.147– small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0.33– medium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0.474– large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 値単独では判断しない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結果①：参考文献リストだけが層を分ける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7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T10（上位10%）vs B（下位25%）の中央値。3 指標すべて δ≈0.3（small）・p&lt;0.001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7A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Paper Anatomy — E1 パイロット結果（2026-08-31）｜AIx{} 浦木・高橋研究室</a:t>
            </a:r>
            <a:endParaRPr lang="en-US" sz="8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1234440"/>
          <a:ext cx="265176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Chart 1" descr=""/>
          <p:cNvGraphicFramePr/>
          <p:nvPr/>
        </p:nvGraphicFramePr>
        <p:xfrm>
          <a:off x="3246120" y="1234440"/>
          <a:ext cx="265176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Chart 2" descr=""/>
          <p:cNvGraphicFramePr/>
          <p:nvPr/>
        </p:nvGraphicFramePr>
        <p:xfrm>
          <a:off x="6126480" y="1234440"/>
          <a:ext cx="265176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8" name="Text 3"/>
          <p:cNvSpPr txBox="1"/>
          <p:nvPr/>
        </p:nvSpPr>
        <p:spPr>
          <a:xfrm>
            <a:off x="457200" y="3977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読み方：上位論文は「多く・新しく・インパクトの高い文献」を引く。生態学 50,878 本の先行知見（Scientometrics 2020）がデータサイエンス分野で完全に再現。参照年中央値も 2016 vs 2014.5（δ=0.24）。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結果①′：全特徴の効果量（Cliff's δ）ランキング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7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参考文献系の 4 特徴（＋著者数）だけが閾値 0.147 を超える。題名・アブスト系はすべて negligible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7A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Paper Anatomy — E1 パイロット結果（2026-08-31）｜AIx{} 浦木・高橋研究室</a:t>
            </a:r>
            <a:endParaRPr lang="en-US" sz="8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188720"/>
          <a:ext cx="566928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6355080" y="1188720"/>
            <a:ext cx="2331720" cy="3474720"/>
          </a:xfrm>
          <a:prstGeom prst="roundRect">
            <a:avLst>
              <a:gd name="adj" fmla="val 3137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492240" y="128016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4C5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閾値 0.147 の意味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6492240" y="1627632"/>
            <a:ext cx="2057400" cy="2944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Cliff's δ ＝「T10 の論文を 1 本、B の論文を 1 本ランダムに取ったとき、T10 の方が大きい確率 − 小さい確率」。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0.32 なら、上位論文の Price 指数が下位を上回る確率は約 66%。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小さく見えるが、被引用の分散の大半は内容が決める（メタ分析でも r&lt;0.2）。型の効果としては明確な水準。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結果②：題名・アブストは venue 内では無効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7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両層で中央値が一致。venue の規範が形式を均質化している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7A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Paper Anatomy — E1 パイロット結果（2026-08-31）｜AIx{} 浦木・高橋研究室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28016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F4C5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8 = 8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0116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7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題名語数の中央値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B67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T10 vs B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2651760" y="128016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4C5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23.2 ≈ 23.3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2651760" y="20116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7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Flesch 可読性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B67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T10 vs B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846320" y="128016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4C5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198 vs 193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4846320" y="20116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7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アブスト語数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B67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（δ=0.09）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7040880" y="128016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F4C5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 = 0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7040880" y="20116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7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コロン／疑問形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B67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／特定性語</a:t>
            </a:r>
            <a:endParaRPr lang="en-US" sz="11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74320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731520"/>
                <a:gridCol w="2926080"/>
                <a:gridCol w="27432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特徴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δ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先行研究の主張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E1 での解釈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題名の長さ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−0.001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高被引用誌は短い方が有利（Letchford 2015）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効果は venue 間で働く。venue 内では消える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可読性（低い＝専門語が濃い）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−0.001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難読側が高被引用（Gazni 2011 ほか）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層内では差なし。venue 規範が均質化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5 ムーブ・数値結果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≤0.04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Results ムーブ ≈100%（実証系）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両層ともほぼ 100%。差がつく余地なし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結果②′：トップ venue に「特定的題名」はほぼ無い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7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国名・applied to・case study 等の限定句を含む題名の割合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7A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Paper Anatomy — E1 パイロット結果（2026-08-31）｜AIx{} 浦木・高橋研究室</a:t>
            </a:r>
            <a:endParaRPr lang="en-US" sz="8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234440"/>
          <a:ext cx="420624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4937760" y="1234440"/>
            <a:ext cx="3749040" cy="3291840"/>
          </a:xfrm>
          <a:prstGeom prst="roundRect">
            <a:avLst>
              <a:gd name="adj" fmla="val 2222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074920" y="13258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4C5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仮説の行方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5074920" y="1673352"/>
            <a:ext cx="3474720" cy="276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仮説：トップ層は知見が一般化されているため題名が短く、非トップ層は「for X」「applied to Y」で個別具体化して長くなる。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E1：特定型は T10 で 9 本・B で 15 本と希少 → 層内の媒介検定は検定不能。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含意：この機構は「同じ venue の中」ではなく「venue の階層間」で働く（一般誌 vs 専門誌）。E2 で venue tier を跨いだ設計（トップ誌 vs 応用系会議）に切り替えて検証する。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結果③：筆頭著者の venue 戦略は層で変わらない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7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T10／B 論文の筆頭著者 各 150 名、論文の直近 10 年のポートフォリオ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7A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Paper Anatomy — E1 パイロット結果（2026-08-31）｜AIx{} 浦木・高橋研究室</a:t>
            </a:r>
            <a:endParaRPr lang="en-US" sz="8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234440"/>
          <a:ext cx="512064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760720" y="1234440"/>
            <a:ext cx="2926080" cy="3291840"/>
          </a:xfrm>
          <a:prstGeom prst="roundRect">
            <a:avLst>
              <a:gd name="adj" fmla="val 2500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897880" y="13258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4C5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数値と解釈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5897880" y="1673352"/>
            <a:ext cx="2651760" cy="276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作品数（10年）9 vs 11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投稿 venue 数 7 vs 7.5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venue h-index 中央値 182 vs 182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venue h-index 最大 305 vs 286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全項目 |δ| &lt; 0.09（negligible）。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「同じ venue に載った論文の被引用差は、筆頭著者の投稿戦略（多様性・ロイヤルティ・旗艦到達・preprint）では説明できない」— 否定的結果として報告価値あり。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注：著者名寄せは OpenAlex 依存。筆頭著者は学生が多い可能性 → E2 で last author も比較。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結果④：AI 執筆の痕跡は 2023 年に約 2 倍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7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excess vocabulary 法（Kobak et al. 2025, Science Advances）。集団レベル推定のみ／個別論文は判定しない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7A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Paper Anatomy — E1 パイロット結果（2026-08-31）｜AIx{} 浦木・高橋研究室</a:t>
            </a:r>
            <a:endParaRPr lang="en-US" sz="8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234440"/>
          <a:ext cx="493776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Chart 1" descr=""/>
          <p:cNvGraphicFramePr/>
          <p:nvPr/>
        </p:nvGraphicFramePr>
        <p:xfrm>
          <a:off x="5577840" y="1234440"/>
          <a:ext cx="3108960" cy="1920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 3"/>
          <p:cNvSpPr txBox="1"/>
          <p:nvPr/>
        </p:nvSpPr>
        <p:spPr>
          <a:xfrm>
            <a:off x="5577840" y="324612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B54A3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HIGH：</a:t>
            </a:r>
            <a:pPr indent="0" marL="0">
              <a:buNone/>
            </a:pPr>
            <a:r>
              <a:rPr lang="en-US" sz="950" dirty="0">
                <a:solidFill>
                  <a:srgbClr val="1F2A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基準 3.7%（2018–22）→ 6.8%（2023）＝ +3.2pt・1.97 倍。2023 年抄録の ≥3.2% が LLM 支援（下限）。PubMed の「2023 小段差→2024 急増」と整合。
</a:t>
            </a:r>
            <a:pPr indent="0" marL="0">
              <a:buNone/>
            </a:pPr>
            <a:r>
              <a:rPr lang="en-US" sz="950" b="1" dirty="0">
                <a:solidFill>
                  <a:srgbClr val="5B67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BROAD：</a:t>
            </a:r>
            <a:pPr indent="0" marL="0">
              <a:buNone/>
            </a:pPr>
            <a:r>
              <a:rPr lang="en-US" sz="950" dirty="0">
                <a:solidFill>
                  <a:srgbClr val="1F2A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2021 年から既に上昇＝分野トレンド混入で証拠に使えない。
</a:t>
            </a:r>
            <a:pPr indent="0" marL="0">
              <a:buNone/>
            </a:pPr>
            <a:r>
              <a:rPr lang="en-US" sz="950" b="1" dirty="0">
                <a:solidFill>
                  <a:srgbClr val="0F4C5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層差：</a:t>
            </a:r>
            <a:pPr indent="0" marL="0">
              <a:buNone/>
            </a:pPr>
            <a:r>
              <a:rPr lang="en-US" sz="950" dirty="0">
                <a:solidFill>
                  <a:srgbClr val="1F2A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2023 コホートで T10 vs B の HIGH 率 δ=−0.025。AI 的文体と被引用に関係なし。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総合解釈：入場券と加点は別の場所で決まる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7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venue に「入る」要因と、入ってから「引用される」要因を分けて考える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7A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Paper Anatomy — E1 パイロット結果（2026-08-31）｜AIx{} 浦木・高橋研究室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3840480" cy="3200400"/>
          </a:xfrm>
          <a:prstGeom prst="roundRect">
            <a:avLst>
              <a:gd name="adj" fmla="val 2857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417320"/>
            <a:ext cx="34747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4C5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① 入場券（venue 間で効く）
</a:t>
            </a:r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題名：短く・一般形・コロン2部構成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アブスト：5ムーブ完全被覆＋数値結果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章構造：venue 規範型か自由型かを判定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 先行研究の知見は「どの venue に通るか」の話。E1 では venue を固定したので効果が消えた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434840" y="2606040"/>
            <a:ext cx="457200" cy="548640"/>
          </a:xfrm>
          <a:prstGeom prst="rightArrow">
            <a:avLst/>
          </a:prstGeom>
          <a:solidFill>
            <a:srgbClr val="E09F3E"/>
          </a:solidFill>
          <a:ln w="12700">
            <a:solidFill>
              <a:srgbClr val="E09F3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0" y="1280160"/>
            <a:ext cx="3657600" cy="3200400"/>
          </a:xfrm>
          <a:prstGeom prst="roundRect">
            <a:avLst>
              <a:gd name="adj" fmla="val 2857"/>
            </a:avLst>
          </a:prstGeom>
          <a:solidFill>
            <a:srgbClr val="FFF4E3"/>
          </a:solidFill>
          <a:ln w="12700">
            <a:solidFill>
              <a:srgbClr val="FFF4E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212080" y="1417320"/>
            <a:ext cx="32918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09F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② 加点（同一 venue 内で効く）
</a:t>
            </a:r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参照本数：venue の T10 水準（TKDE 系で ≈45 本）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Price 指数：≥0.6（0.7 は上位）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参照先：インパクトの高い文献を選ぶ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直近 2 年を必ず含める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 指導の重心はここ。literature-reviewer の「7割ルール」が実測で裏付け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限界と、次の本分析（E2）の設計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7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先生方にご意見をいただきたい論点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7A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Paper Anatomy — E1 パイロット結果（2026-08-31）｜AIx{} 浦木・高橋研究室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2651760" cy="3291840"/>
          </a:xfrm>
          <a:prstGeom prst="roundRect">
            <a:avLst>
              <a:gd name="adj" fmla="val 2759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3258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4C5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E1 の限界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1673352"/>
            <a:ext cx="2377440" cy="276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・3 venue（DB 寄り）。DMKD は年 53–91 本で T1 が空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・2023 年論文の引用窓は約 3 年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・著者数（チーム規模）は交絡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・タイトル効果は設計上 venue 内では検出不能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・AI マーカーは 2023 単年のみ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・著者名寄せは OpenAlex 依存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46120" y="1234440"/>
            <a:ext cx="2651760" cy="3291840"/>
          </a:xfrm>
          <a:prstGeom prst="roundRect">
            <a:avLst>
              <a:gd name="adj" fmla="val 275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383280" y="13258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4C5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E2 の設計案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3383280" y="1673352"/>
            <a:ext cx="2377440" cy="276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・10–15 venue：DB/DM/AI ＋対照（計量書誌・医学）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・KDD 会議本体（SIGKDD）を追加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・venue tier を跨ぐ比較（一般性仮説の再検定）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・2024–2025 を AI マーカー専用に追加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・著者数・document type を統制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・層定義・引用窓の感度分析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・last author のポートフォリオも比較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035040" y="1234440"/>
            <a:ext cx="2651760" cy="3291840"/>
          </a:xfrm>
          <a:prstGeom prst="roundRect">
            <a:avLst>
              <a:gd name="adj" fmla="val 2759"/>
            </a:avLst>
          </a:prstGeom>
          <a:solidFill>
            <a:srgbClr val="FFF4E3"/>
          </a:solidFill>
          <a:ln w="12700">
            <a:solidFill>
              <a:srgbClr val="FFF4E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172200" y="13258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9F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ご意見をいただきたい点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172200" y="1673352"/>
            <a:ext cx="2377440" cy="276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① venue の選び方（旗艦誌 vs 会議、対照分野）は妥当か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② 層の切り方（T10 vs B）と引用窓 3 年以上は妥当か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③ 効果量の閾値 0.147 は分野慣行として適切か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④ 追加すべき分析（例：図表数・章構造・共著ネットワーク）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⑤ Scientometrics / QSS への投稿戦略と論文の主張の絞り方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副産物：AI が分析・人間が報告・AI が直した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7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E4（人間–AI 役割分担）の一次データ。E1 の実行中に起きた障害と回復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7A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Paper Anatomy — E1 パイロット結果（2026-08-31）｜AIx{} 浦木・高橋研究室</a:t>
            </a:r>
            <a:endParaRPr lang="en-US" sz="8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2651760"/>
                <a:gridCol w="1828800"/>
                <a:gridCol w="228600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障害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何が起きたか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人間の介入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AI の対応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① Python 3.9 互換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型注釈 `dict | None` が macOS 標準 Python で失敗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ログを貼って報告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`from __future__ import annotations` で6ファイル修正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② Retry-After 盲信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OpenAlex が返した 72,006 秒（20時間）待機を信用して眠り込む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異常を察知し Ctrl-C・報告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上限 120 秒キャップ＋再開チェックポイント実装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③ API キー制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2026-02 からのクレジット制で日次枠が枯渇（キーなし）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無料キー取得・環境変数で投入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Bearer 認証・枯渇時即停止・README 追記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37033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4C5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パターン：</a:t>
            </a:r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いずれも「AI の自動処理が止まる → 人間が異常を報告・判断する → AI が原因究明と再設計」の同型。完全自律型 AI Scientist 系の報告には現れない「現場のエラー回復における人間の役割」の実例。介入の種類は〈報告〉〈判断（止める）〉〈資源投入（キー取得）〉に分類できる。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再現手順と、次の一手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7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すべて公開リポジトリで再実行できます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7A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Paper Anatomy — E1 パイロット結果（2026-08-31）｜AIx{} 浦木・高橋研究室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4023360" cy="3291840"/>
          </a:xfrm>
          <a:prstGeom prst="roundRect">
            <a:avLst>
              <a:gd name="adj" fmla="val 2222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3258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4C5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再現（8 ステップ・Python 3.9+・標準ライブラリのみ）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1673352"/>
            <a:ext cx="3749040" cy="276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github.com/aix-sc/research-lifecycle-guide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scripts/paper-structure-analyzer/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 fetch_openalex（venue×年→層ラベル）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 enrich_references（Price 指数・参照先インパクト）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 extract_features（題名・アブスト・特定性）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 analyze（Mann–Whitney＋Cliff's δ）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 author_venues（筆頭著者ポートフォリオ）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 ai_markers（excess vocabulary）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 grobid_sections（任意・章見出し）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認証：OPENALEX_KEY（無料キー・Bearer）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63440" y="1234440"/>
            <a:ext cx="4023360" cy="3291840"/>
          </a:xfrm>
          <a:prstGeom prst="roundRect">
            <a:avLst>
              <a:gd name="adj" fmla="val 222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00600" y="13258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4C5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スケジュール（台帳 v7）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800600" y="1673352"/>
            <a:ext cx="3749040" cy="276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9/13  浦木先生と GO の正式合意・E2 設計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9/13  岡先生・武藤先生からのフィードバック→共著同意（高橋–浦木–岡–武藤）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9/30  Agents4Science 2026 告知監視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10/31 arXiv preprint（E2 完了後）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12/15 E4 事例分析完了・JOSS 投稿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2027-01-15 EJC 2027 投稿（確定締切）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2027-01-31 Scientometrics / QSS 投稿（旗艦）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2026-08-31T09:54:05Z</dcterms:created>
  <dcterms:modified xsi:type="dcterms:W3CDTF">2026-08-31T09:54:05Z</dcterms:modified>
</cp:coreProperties>
</file>