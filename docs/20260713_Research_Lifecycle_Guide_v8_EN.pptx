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AIx{} Project  -  Uraki-Takahashi Laboratory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[Learning Edition]  From a researcher's first steps to paper submission - fully self-contained, 5-skill system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749040"/>
            <a:ext cx="1883664" cy="658368"/>
          </a:xfrm>
          <a:prstGeom prst="roundRect">
            <a:avLst>
              <a:gd name="adj" fmla="val 1388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80390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4005072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Steps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96896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44368" y="3749040"/>
            <a:ext cx="1883664" cy="658368"/>
          </a:xfrm>
          <a:prstGeom prst="roundRect">
            <a:avLst>
              <a:gd name="adj" fmla="val 1388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380390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44368" y="4005072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Start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9744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57216" y="3749040"/>
            <a:ext cx="1883664" cy="658368"/>
          </a:xfrm>
          <a:prstGeom prst="roundRect">
            <a:avLst>
              <a:gd name="adj" fmla="val 1388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57216" y="380390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57216" y="4005072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Format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22592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70064" y="3749040"/>
            <a:ext cx="1883664" cy="658368"/>
          </a:xfrm>
          <a:prstGeom prst="roundRect">
            <a:avLst>
              <a:gd name="adj" fmla="val 1388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70064" y="380390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70064" y="4005072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Paper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35440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582912" y="3749040"/>
            <a:ext cx="1883664" cy="658368"/>
          </a:xfrm>
          <a:prstGeom prst="roundRect">
            <a:avLst>
              <a:gd name="adj" fmla="val 1388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82912" y="380390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582912" y="4005072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Pre-submission Audit</a:t>
            </a:r>
            <a:endParaRPr lang="en-US" sz="11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502920"/>
            <a:ext cx="777240" cy="7772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31520" y="4846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v8: clearer contents page (no color badges, larger type). research-proposer gains a date-sorted schedule overview with task lists and a deadline-sorted master table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731520" y="54864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Skills: https://github.com/aix-sc/research-lifecycle-guide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v8  /  2026-07-13  /  EN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TL;DR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guide on one page - the 5-skill system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611880" cy="1664208"/>
          </a:xfrm>
          <a:prstGeom prst="roundRect">
            <a:avLst>
              <a:gd name="adj" fmla="val 4396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15361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the research itself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2376" y="2029968"/>
            <a:ext cx="31729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 tasks *around* research as reusable forms first. Executing Phases 01-06 in order is what matters most.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88536" y="1371600"/>
            <a:ext cx="3611880" cy="1664208"/>
          </a:xfrm>
          <a:prstGeom prst="roundRect">
            <a:avLst>
              <a:gd name="adj" fmla="val 4396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9704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928616" y="15361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papers with a format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07992" y="2029968"/>
            <a:ext cx="31729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IMRAD is the world standard. Build the abstract and Chapter 1 with the 7-sentence method (closed world). The 5-chapter hako template is for Type A/B x EJC venues only.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74152" y="1371600"/>
            <a:ext cx="3611880" cy="1664208"/>
          </a:xfrm>
          <a:prstGeom prst="roundRect">
            <a:avLst>
              <a:gd name="adj" fmla="val 4396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714232" y="15361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 to 5 Skills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93608" y="2029968"/>
            <a:ext cx="31729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= project onboarding, proposer = the plan, compiler v2 = writing + audit; references are split between researcher (survey) and reviewer (verification).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2461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x resource map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589520" y="324612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  </a:t>
            </a:r>
            <a:pPr algn="r" indent="0" marL="0">
              <a:buNone/>
            </a:pPr>
            <a:r>
              <a:rPr lang="en-US" sz="105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 </a:t>
            </a:r>
            <a:pPr algn="r" indent="0" marL="0">
              <a:buNone/>
            </a:pPr>
            <a:r>
              <a:rPr lang="en-US" sz="10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(v0 = initial template)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639312"/>
            <a:ext cx="2167128" cy="2578608"/>
          </a:xfrm>
          <a:prstGeom prst="roundRect">
            <a:avLst>
              <a:gd name="adj" fmla="val 337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" y="3767328"/>
            <a:ext cx="1911096" cy="512064"/>
          </a:xfrm>
          <a:prstGeom prst="roundRect">
            <a:avLst>
              <a:gd name="adj" fmla="val 10714"/>
            </a:avLst>
          </a:prstGeom>
          <a:solidFill>
            <a:srgbClr val="0E2A47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" y="3767328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First Steps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0936" y="4334256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Setup, 6 phases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30936" y="4919472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D97E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919472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research-starter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0936" y="5541264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6B5B9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541264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research_start v0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98064" y="3639312"/>
            <a:ext cx="2167128" cy="2578608"/>
          </a:xfrm>
          <a:prstGeom prst="roundRect">
            <a:avLst>
              <a:gd name="adj" fmla="val 337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26080" y="3767328"/>
            <a:ext cx="1911096" cy="512064"/>
          </a:xfrm>
          <a:prstGeom prst="roundRect">
            <a:avLst>
              <a:gd name="adj" fmla="val 10714"/>
            </a:avLst>
          </a:prstGeom>
          <a:solidFill>
            <a:srgbClr val="0E2A47"/>
          </a:solidFill>
          <a:ln/>
        </p:spPr>
      </p:sp>
      <p:sp>
        <p:nvSpPr>
          <p:cNvPr id="28" name="Text 26"/>
          <p:cNvSpPr/>
          <p:nvPr/>
        </p:nvSpPr>
        <p:spPr>
          <a:xfrm>
            <a:off x="2926080" y="3767328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Project Start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926080" y="4334256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Kickoff proposal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926080" y="4919472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D97E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80944" y="4919472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research-proposer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926080" y="5541264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6B5B9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80944" y="5541264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v0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93208" y="3639312"/>
            <a:ext cx="2167128" cy="2578608"/>
          </a:xfrm>
          <a:prstGeom prst="roundRect">
            <a:avLst>
              <a:gd name="adj" fmla="val 337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21224" y="3767328"/>
            <a:ext cx="1911096" cy="512064"/>
          </a:xfrm>
          <a:prstGeom prst="roundRect">
            <a:avLst>
              <a:gd name="adj" fmla="val 10714"/>
            </a:avLst>
          </a:prstGeom>
          <a:solidFill>
            <a:srgbClr val="0E2A47"/>
          </a:solidFill>
          <a:ln/>
        </p:spPr>
      </p:sp>
      <p:sp>
        <p:nvSpPr>
          <p:cNvPr id="36" name="Text 34"/>
          <p:cNvSpPr/>
          <p:nvPr/>
        </p:nvSpPr>
        <p:spPr>
          <a:xfrm>
            <a:off x="5221224" y="3767328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Choose Format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221224" y="4334256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IMRAD / 7 sentences / hako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221224" y="4919472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0F6E8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76088" y="4919472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guide, Part 3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221224" y="5541264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D97E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76088" y="5541264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into compiler v2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388352" y="3639312"/>
            <a:ext cx="2167128" cy="2578608"/>
          </a:xfrm>
          <a:prstGeom prst="roundRect">
            <a:avLst>
              <a:gd name="adj" fmla="val 337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16368" y="3767328"/>
            <a:ext cx="1911096" cy="512064"/>
          </a:xfrm>
          <a:prstGeom prst="roundRect">
            <a:avLst>
              <a:gd name="adj" fmla="val 10714"/>
            </a:avLst>
          </a:prstGeom>
          <a:solidFill>
            <a:srgbClr val="0E2A47"/>
          </a:solidFill>
          <a:ln/>
        </p:spPr>
      </p:sp>
      <p:sp>
        <p:nvSpPr>
          <p:cNvPr id="44" name="Text 42"/>
          <p:cNvSpPr/>
          <p:nvPr/>
        </p:nvSpPr>
        <p:spPr>
          <a:xfrm>
            <a:off x="7516368" y="3767328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Write the Paper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516368" y="4334256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/ review loop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516368" y="4919472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D97E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71232" y="4919472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paper-compiler v2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16368" y="5541264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6B5B9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1232" y="5541264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paper_template v0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683496" y="3639312"/>
            <a:ext cx="2167128" cy="2578608"/>
          </a:xfrm>
          <a:prstGeom prst="roundRect">
            <a:avLst>
              <a:gd name="adj" fmla="val 337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811512" y="3767328"/>
            <a:ext cx="1911096" cy="512064"/>
          </a:xfrm>
          <a:prstGeom prst="roundRect">
            <a:avLst>
              <a:gd name="adj" fmla="val 10714"/>
            </a:avLst>
          </a:prstGeom>
          <a:solidFill>
            <a:srgbClr val="0E2A47"/>
          </a:solidFill>
          <a:ln/>
        </p:spPr>
      </p:sp>
      <p:sp>
        <p:nvSpPr>
          <p:cNvPr id="52" name="Text 50"/>
          <p:cNvSpPr/>
          <p:nvPr/>
        </p:nvSpPr>
        <p:spPr>
          <a:xfrm>
            <a:off x="9811512" y="3767328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Audit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811512" y="4334256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18-item pre-submission gate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9811512" y="4919472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D97E2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866376" y="4919472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 v2 (audit)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v8 / 2026-07-13 / EN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43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42646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965960" y="142646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TL;DR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669280" y="142646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core messages and the resource map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35640" y="142646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020824"/>
            <a:ext cx="11155680" cy="10973"/>
          </a:xfrm>
          <a:prstGeom prst="rect">
            <a:avLst/>
          </a:prstGeom>
          <a:solidFill>
            <a:srgbClr val="D8E2E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09397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965960" y="209397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Researcher's First Steps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669280" y="209397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6 phases in detail, drill checklist &amp; mindset, research-starter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835640" y="209397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p.4-12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688336"/>
            <a:ext cx="11155680" cy="10973"/>
          </a:xfrm>
          <a:prstGeom prst="rect">
            <a:avLst/>
          </a:prstGeom>
          <a:solidFill>
            <a:srgbClr val="D8E2E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76148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965960" y="276148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Start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669280" y="276148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proposal outline &amp; requirements, research-proposer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835640" y="276148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p.13-15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355848"/>
            <a:ext cx="11155680" cy="10973"/>
          </a:xfrm>
          <a:prstGeom prst="rect">
            <a:avLst/>
          </a:prstGeom>
          <a:solidFill>
            <a:srgbClr val="D8E2E8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429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965960" y="3429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the Writing Format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5669280" y="34290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IMRAD/ILMRAD, chapter tips with examples, the 7-sentence method, hako template, top-journal lessons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835640" y="34290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p.16-30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4023360"/>
            <a:ext cx="11155680" cy="10973"/>
          </a:xfrm>
          <a:prstGeom prst="rect">
            <a:avLst/>
          </a:prstGeom>
          <a:solidFill>
            <a:srgbClr val="D8E2E8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09651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965960" y="409651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the Paper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5669280" y="409651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design axes, skeleton choice, compiler v2's 3 modes, the 4-part template, 18-item audit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835640" y="409651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p.31-39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4690872"/>
            <a:ext cx="11155680" cy="10973"/>
          </a:xfrm>
          <a:prstGeom prst="rect">
            <a:avLst/>
          </a:prstGeom>
          <a:solidFill>
            <a:srgbClr val="D8E2E8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476402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965960" y="476402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&amp; Routing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5669280" y="476402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/ decision flowchart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835640" y="476402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p.40-42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2920" y="5358384"/>
            <a:ext cx="11155680" cy="10973"/>
          </a:xfrm>
          <a:prstGeom prst="rect">
            <a:avLst/>
          </a:prstGeom>
          <a:solidFill>
            <a:srgbClr val="D8E2E8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543153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965960" y="543153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5669280" y="543153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checklist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835640" y="543153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p.43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v8 / 2026-07-13 / EN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43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400" kern="0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Researcher's First Steps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5212080" cy="3977640"/>
          </a:xfrm>
          <a:prstGeom prst="roundRect">
            <a:avLst>
              <a:gd name="adj" fmla="val 206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402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tasks *around* research can be shaped into 6 phases - the order is the strategy (license, articulate, show, survey, target, write)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ORCID = your researcher's license. Write your question &amp; hypothesis on 1-2 pages of A4 and rewrite regularly - 'mental strength training'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the 70% post-2020 rule - literature-researcher surveys, literature-reviewer verifies. Use short communications and the arXiv custom strategically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research-starter accompanies every phase as a 23-slot state machine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309360" y="22402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CONTENTS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269748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p.5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6 phases at a glance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309360" y="312724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p.6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01: ORCID registration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09360" y="355701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p.7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02: Question &amp; hypothesis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09360" y="3986784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p.8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03: LP, business card, branding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09360" y="441655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p.9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04: References &amp; citation styles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09360" y="484632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p.10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05: Venues &amp; planning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09360" y="527608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p.11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06: Writing skills + research-starter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09360" y="570585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p.12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 checklist &amp; mindset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43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 -  A RESEARCHER'S FIRST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6 phases - do them in this order!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64208"/>
            <a:ext cx="512064" cy="512064"/>
          </a:xfrm>
          <a:prstGeom prst="ellipse">
            <a:avLst/>
          </a:prstGeom>
          <a:solidFill>
            <a:srgbClr val="0F6E8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178765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8249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ORCID registration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22376" y="2267712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your researcher's license - 'LinkedIn for researchers'. Also set up the Scholar family.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88536" y="1481328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71416" y="1664208"/>
            <a:ext cx="512064" cy="512064"/>
          </a:xfrm>
          <a:prstGeom prst="ellipse">
            <a:avLst/>
          </a:prstGeom>
          <a:solidFill>
            <a:srgbClr val="0F6E8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178765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11496" y="168249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Question &amp; hypothesis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07992" y="2267712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What / Why / How on 1-2 pages of A4. Choose by the 3 axes: love x can x sells.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074152" y="1481328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57032" y="1664208"/>
            <a:ext cx="512064" cy="512064"/>
          </a:xfrm>
          <a:prstGeom prst="ellipse">
            <a:avLst/>
          </a:prstGeom>
          <a:solidFill>
            <a:srgbClr val="0F6E8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476" y="1787652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97112" y="168249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LP, card &amp; branding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293608" y="2267712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LP, pre-registration form, business card and an MVP: become a magnet as 'the person doing X'.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02920" y="3163824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3346704"/>
            <a:ext cx="512064" cy="512064"/>
          </a:xfrm>
          <a:prstGeom prst="ellipse">
            <a:avLst/>
          </a:prstGeom>
          <a:solidFill>
            <a:srgbClr val="0F6E8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" y="3470148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336499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References &amp; prior work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22376" y="3950208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the top researchers and build your 'playbook'. The 70% post-2020 rule.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288536" y="3163824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71416" y="3346704"/>
            <a:ext cx="512064" cy="512064"/>
          </a:xfrm>
          <a:prstGeom prst="ellipse">
            <a:avLst/>
          </a:prstGeom>
          <a:solidFill>
            <a:srgbClr val="0F6E8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3470148"/>
            <a:ext cx="265176" cy="26517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11496" y="336499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Venues &amp; planning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07992" y="3950208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3 journals (with IF) + 3 conferences. Draft a one-year submission plan.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8074152" y="3163824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57032" y="3346704"/>
            <a:ext cx="512064" cy="512064"/>
          </a:xfrm>
          <a:prstGeom prst="ellipse">
            <a:avLst/>
          </a:prstGeom>
          <a:solidFill>
            <a:srgbClr val="0F6E84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0476" y="3470148"/>
            <a:ext cx="265176" cy="26517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97112" y="336499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Paper-writing skills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293608" y="3950208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IMRAD and English writing now. Compete on creativity x outcome.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502920" y="4965192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/>
        </p:spPr>
      </p:sp>
      <p:sp>
        <p:nvSpPr>
          <p:cNvPr id="35" name="Text 27"/>
          <p:cNvSpPr/>
          <p:nvPr/>
        </p:nvSpPr>
        <p:spPr>
          <a:xfrm>
            <a:off x="777240" y="50566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order is the strategy.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 (01) - articulate (02) - show (03) - survey (04) - target (05) - write (06). Each phase is covered in detail on the following slides.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v8 / 2026-07-13 / EN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43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 -  PHASE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ORCID registration - get your researcher's license first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727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ORCID?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Researcher and Contributor ID.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persistent international identifier for researchers that links your papers, projects and affiliations - a researcher's LinkedIn / CV.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0000-0002-1825-0097  /  Register now: https://orcid.org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727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it first?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1938528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your license to do research - without it you barely exist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publishers (Nature, Elsevier, ...) manage authors by ORCID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Increasingly a required field at submission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Citations, co-authorships and outputs get tracked automatically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97764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114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set up: Google Scholar / ResearchGate / Semantic Scholar.  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citation counts and h-index. Link them to ORCID for one-stop management. Always complete your profile: affiliation, research topics, education.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52578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Drill: [ ] register at orcid.org and record URL &amp; iD  [ ] complete your profile  [ ] link the Scholar family (fill in Phase 01 of research_start_template_v0)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v8 / 2026-07-13 / EN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43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 -  PHASE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Articulate your question &amp; hypothesis - A4 x 1-2 pages becomes Chapter 1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675120" cy="868680"/>
          </a:xfrm>
          <a:prstGeom prst="roundRect">
            <a:avLst>
              <a:gd name="adj" fmla="val 842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82496"/>
            <a:ext cx="438912" cy="438912"/>
          </a:xfrm>
          <a:prstGeom prst="ellipse">
            <a:avLst/>
          </a:prstGeom>
          <a:solidFill>
            <a:srgbClr val="0F6E8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824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What?  Which phenomenon or problem interests you?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193852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plainly: 'X fascinates me', 'Y is puzzling'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2441448"/>
            <a:ext cx="6675120" cy="868680"/>
          </a:xfrm>
          <a:prstGeom prst="roundRect">
            <a:avLst>
              <a:gd name="adj" fmla="val 842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660904"/>
            <a:ext cx="438912" cy="438912"/>
          </a:xfrm>
          <a:prstGeom prst="ellipse">
            <a:avLst/>
          </a:prstGeom>
          <a:solidFill>
            <a:srgbClr val="0F6E8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609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53288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Why?  Why does it matter? Who is struggling?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291693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societal / natural / global theme clearly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419856"/>
            <a:ext cx="6675120" cy="868680"/>
          </a:xfrm>
          <a:prstGeom prst="roundRect">
            <a:avLst>
              <a:gd name="adj" fmla="val 842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639312"/>
            <a:ext cx="438912" cy="438912"/>
          </a:xfrm>
          <a:prstGeom prst="ellipse">
            <a:avLst/>
          </a:prstGeom>
          <a:solidFill>
            <a:srgbClr val="0F6E84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639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51129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How?  How might it be solved? (hypothesis)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3895344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it as 'perhaps ...' using a DS approach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441655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it any time. Rewriting regularly is the point - strength training for how you think.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60920" y="1463040"/>
            <a:ext cx="4297680" cy="3063240"/>
          </a:xfrm>
          <a:prstGeom prst="roundRect">
            <a:avLst>
              <a:gd name="adj" fmla="val 2388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89520" y="160934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axes for choosing a topic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89520" y="1975104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love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curiosity - can you sustain the passion long-term?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can do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leverage your strengths, skills, expertise?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can sell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connect to real needs of society, industry, someone?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489204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9834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data science,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societal / global / natural theme you choose is itself what matters. DS techniques are the 'how' - the value of the theme is the value of the research.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v8 / 2026-07-13 / EN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43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 -  PHASE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LP, business card &amp; branding - show your research, become a magnet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22376" y="1609344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22376" y="1993392"/>
            <a:ext cx="5047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page for your topic, the problem you solve and the value you offer. 'Coming Soon' is fine before launch. Build with Webflow, Notion, etc.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1656" y="1609344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Pre-registration form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91656" y="1993392"/>
            <a:ext cx="5047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Deployable today even with nothing released. Counts of interested users (and their attributes) become quantitative evidence of need. Google Forms works.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3209544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2376" y="3593592"/>
            <a:ext cx="5047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affiliation, topic, LP URL and a QR code. Express yourself in one line as 'the person doing X'. Canva works.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30632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91656" y="3209544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 (MVP)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91656" y="3593592"/>
            <a:ext cx="5047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features are enough - productize the hypothesis. Qualitative feedback and usage tracking become research data.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4754880"/>
            <a:ext cx="11155680" cy="1143000"/>
          </a:xfrm>
          <a:prstGeom prst="roundRect">
            <a:avLst>
              <a:gd name="adj" fmla="val 6400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864608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Magnet strategy: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'the person doing X' brand is established, information, introductions, collaborators and users are drawn to you. Pre-registration counts and usage logs later serve as quantitative evidence of need in your papers.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v8 / 2026-07-13 / EN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43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 -  PHASE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&amp; prior work - the playbook and citation styles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727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playbook - the 70% post-2020 rule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19385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Reviewers judge paper quality from the *look* of your reference list.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3520440" cy="457200"/>
          </a:xfrm>
          <a:prstGeom prst="roundRect">
            <a:avLst>
              <a:gd name="adj" fmla="val 10000"/>
            </a:avLst>
          </a:prstGeom>
          <a:solidFill>
            <a:srgbClr val="0F6E84"/>
          </a:solidFill>
          <a:ln/>
        </p:spPr>
      </p:sp>
      <p:sp>
        <p:nvSpPr>
          <p:cNvPr id="8" name="Shape 6"/>
          <p:cNvSpPr/>
          <p:nvPr/>
        </p:nvSpPr>
        <p:spPr>
          <a:xfrm>
            <a:off x="4288536" y="2331720"/>
            <a:ext cx="1472184" cy="457200"/>
          </a:xfrm>
          <a:prstGeom prst="roundRect">
            <a:avLst>
              <a:gd name="adj" fmla="val 10000"/>
            </a:avLst>
          </a:prstGeom>
          <a:solidFill>
            <a:srgbClr val="B9CDD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317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 from 2020 onward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51960" y="23317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05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work (70%): centered on 2020 onward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Authorities: a few classic masterpieces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sources: original sources can be old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the top 5-10 researchers by face, name and affiliation; follow them on Google Scholar. Map where your work sits, and picture the 'world-line': how the world changes if this is solved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141732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55448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 style (numbered [1][2])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19202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Strategic: you control citation order / easy to cite the target journal's latest papers early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Caution: adding a reference shifts every number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352044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65760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style (author-year (Smith, 2023))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0" y="40233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Robust: numbers never shift / author names appear in the text, explicit for readers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writing author names every time. Common in social sciences &amp; psychology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the target journal's style. If neither is mandated, AMA is strategically advantageous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571500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Division of labor: survey &amp; playbook = literature-researcher / verification, summaries &amp; URLs = literature-reviewer (p.37). Unverifiable sources are flagged.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v8 / 2026-07-13 / EN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43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 -  PHASE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your venues, plan your schedule - build a track record strategically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34440" y="16459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 the target venue's latest issue early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22376" y="2468880"/>
            <a:ext cx="31729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 the journal's recent papers early in the intro - an effective, silent signal to reviewers that you follow their venue.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88536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9704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020056" y="16459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short communications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07992" y="2468880"/>
            <a:ext cx="31729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results quickly in ~3,000 words. Ranked on par with full papers. Ideal as a first publication!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74152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805672" y="16459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supplementary material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93608" y="2468880"/>
            <a:ext cx="31729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references or data do not fit the body, link them as an appendix - modern academic etiquette.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977640"/>
            <a:ext cx="11155680" cy="1371600"/>
          </a:xfrm>
          <a:prstGeom prst="roundRect">
            <a:avLst>
              <a:gd name="adj" fmla="val 5333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096512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 / AI community custom - arXiv: 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Posting preprints to arXiv is the industry standard for speed. Citing them is generally discouraged (not peer-reviewed), but in AI / ML it is acceptable when explicitly labeled as a preprint. arXiv posting usually runs in parallel with conference / journal submission - use it actively.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54864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Drill: [ ] list 3 top journals (with IF) + 3 top conferences  [ ] draft a one-year submission plan (deadlines, venues, topics)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v8 / 2026-07-13 / EN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43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 -  PHASE 06 + SKILL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writing skills - with research-starter alongside you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727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06: start training now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956816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venues assume English - start building English paper-writing skills today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expression: compete on creativity x outcome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Drill: [ ] draft title &amp; 200-char abstract  [ ] outline each IMRAD chapter  [ ] make the figure/table that carries your claim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5727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research-starter - a 6-phase state machine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1956816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from conversation alone, no template needed. Inspects 23 slots and interviews you with gap flags + fulfillment questions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only about the current phase, and proposes exactly one next action (the order, mechanized)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&amp; updates the ResearchStart DOCX (history: done / updated question / next action)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406908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0E2A4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06908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{YYYYMMDD}_ResearchStart_@{NAME}_{LANG}_vX.docx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When all phases pass, hand over to paper_template_v0 and paper-compiler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521208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Details: research_start_template_v0 (3 parts: initial question sheet + update history + per-phase drills)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v8 / 2026-07-13 / EN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43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 -  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Per-phase drill checklist - execute in this order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36192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0F6E8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3619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53312" y="1417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Register at orcid.org, record URL &amp; iD   [ ] Also set up Google Scholar / ResearchGate / Semantic Scholar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2139696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258568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0F6E8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5856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53312" y="213969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Answer What / Why / How in a 1-2 page A4 DOCX (update any time)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862072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980944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0F6E8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8094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53312" y="286207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Build a pre-registration LP; make a business card with URL &amp; QR   [ ] Publish an MVP web app linked from the LP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584448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703320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0F6E8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033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53312" y="358444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Output a reference list + 200-char summaries as DOCX   [ ] List the top researchers (names &amp; affiliations)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4306824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425696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0F6E84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42569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53312" y="4306824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List 3 top conferences + 3 journals with IF   [ ] Draft a one-year submission plan (deadlines, topics, target venues)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5029200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5148072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0F6E84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1480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53312" y="502920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Draft title, 200-char abstract and IMRAD chapter outlines as DOCX   [ ] Create the figures/tables that carry your claim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576986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checklist maps 1:1 to the per-phase drill fields of research_start_template_v0 (research-starter audits progress automatically)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001000" y="1417320"/>
            <a:ext cx="3657600" cy="1389888"/>
          </a:xfrm>
          <a:prstGeom prst="roundRect">
            <a:avLst>
              <a:gd name="adj" fmla="val 5263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183880" y="154533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the research itself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83880" y="1911096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 surrounding tasks as forms, then pour everything into the research. That is this guide's purpose.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001000" y="2935224"/>
            <a:ext cx="3657600" cy="1389888"/>
          </a:xfrm>
          <a:prstGeom prst="roundRect">
            <a:avLst>
              <a:gd name="adj" fmla="val 5263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183880" y="30632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 high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183880" y="3429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 / AI is the world's most important field; demand for PhDs is unprecedented. Aim for the world's top.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001000" y="4453128"/>
            <a:ext cx="3657600" cy="1389888"/>
          </a:xfrm>
          <a:prstGeom prst="roundRect">
            <a:avLst>
              <a:gd name="adj" fmla="val 5263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183880" y="458114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 into industry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183880" y="4946904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ability is the most transferable skill there is. Go take on industry as a top researcher.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v8 / 2026-07-13 / EN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43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400" kern="0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Start - Design the Project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5212080" cy="3977640"/>
          </a:xfrm>
          <a:prstGeom prst="roundRect">
            <a:avLst>
              <a:gd name="adj" fmla="val 206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402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plan with a fixed outline: put 'who does what, by when' (schedule &amp; roles) right after the overview - task confirmation first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salami slicing: state each deliverable's independent contribution and the cross-citation relationships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FAQ in words a junior-high student understands; pre-empt methodological criticism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research-proposer converges to a 'kickoff-ready' version via the gap-flag / fulfillment-question loop; literature-reviewer appends related work at the end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309360" y="22402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CONTENTS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269748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p.14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proposal - fixed outline &amp; requirements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309360" y="312724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p.15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research-proposer - compile the plan in dialogue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43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 -  PROJECT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research proposal - fixed outline &amp; writing requirements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577840" cy="4297680"/>
          </a:xfrm>
          <a:prstGeom prst="roundRect">
            <a:avLst>
              <a:gd name="adj" fmla="val 1702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6362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outline (strictly in this order)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47672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 list &amp; affiliations (ORCID / e-Rad)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(abstract, one-line core claim, keywords)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&amp; roles - right after the overview (tasks first)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(problem / limits of existing methods / novelty)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Objectives, research questions, core contributions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Portfolio: deliverables &amp; author assignment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Experiment plan &amp; methods (IDs, metrics, owners)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Publication strategy (venue fit &amp; selection)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Venues, materials, links (CfP, OSS, DOI policy)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FAQ (in words a junior-high student understands)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Literature Review - appended last by literature-reviewer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55080" y="1417320"/>
            <a:ext cx="5303520" cy="1207008"/>
          </a:xfrm>
          <a:prstGeom prst="roundRect">
            <a:avLst>
              <a:gd name="adj" fmla="val 6061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74536" y="1545336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'Who, what, when' comes first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74536" y="1892808"/>
            <a:ext cx="4864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 go/no-go decision points; state deadlines, notifications and camera-ready dates up front; note dependencies between members.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55080" y="2770632"/>
            <a:ext cx="5303520" cy="1207008"/>
          </a:xfrm>
          <a:prstGeom prst="roundRect">
            <a:avLst>
              <a:gd name="adj" fmla="val 6061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74536" y="2898648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salami slicing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74536" y="3246120"/>
            <a:ext cx="4864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splitting into multiple papers, show each contribution's independence and cross-citations; map deliverables to speed / authority / permanence.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55080" y="4123944"/>
            <a:ext cx="5303520" cy="1207008"/>
          </a:xfrm>
          <a:prstGeom prst="roundRect">
            <a:avLst>
              <a:gd name="adj" fmla="val 6061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74536" y="4251960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Pre-empt the critics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74536" y="4599432"/>
            <a:ext cx="4864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terms in the FAQ; prepare answers to methodological criticism for reviewers, collaborators and general readers.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55080" y="5477256"/>
            <a:ext cx="5303520" cy="566928"/>
          </a:xfrm>
          <a:prstGeom prst="roundRect">
            <a:avLst>
              <a:gd name="adj" fmla="val 11290"/>
            </a:avLst>
          </a:prstGeom>
          <a:solidFill>
            <a:srgbClr val="0E2A47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547725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A4, body 10.5pt, navy headings; blanks marked [   ] in amber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v8 / 2026-07-13 / EN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43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 -  SKILL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research-proposer - compile the kickoff plan in dialogue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the fixed outline as a 22-slot state machine. Starts from conversation, notes and meeting minutes alone - no template required (successor to research-project-plan, extended into a dialogue loop).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92024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1792" y="2231136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Conversation, notes, minutes, transcripts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615184" y="224028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79776" y="18288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98648" y="192024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table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898648" y="2231136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which info goes into which slot, up front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92040" y="224028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56632" y="18288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75504" y="192024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detection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175504" y="2231136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/ partial flags + fulfillment questions (flagging alone is forbidden)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168896" y="224028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33488" y="18288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192024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&amp; add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452360" y="2231136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with many gaps, questions are batched into one round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445752" y="224028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610344" y="18288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29216" y="192024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DOCX update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729216" y="2231136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4-item history entry, version +1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" y="32918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41985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= kickoff necessity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" y="3785616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HIGH: researchers, overview, schedule, RQs / MEDIUM: background, portfolio, experiments, strategy / LOW: links, FAQ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288536" y="32918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71416" y="341985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Edits are Word-native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471416" y="3785616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Rewrites = tracked changes; questions = comments anchored to the text. Inline annotations are forbidden.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074152" y="32918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57032" y="341985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 = kickoff-ready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257032" y="3785616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missing and 0 HIGH partials - delete the history page, distribute, then open a paper_template_v0 per deliverable.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2920" y="489204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0E2A47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489204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{YYYYMMDD}_{PROJECT}_Proposal_@{PI}_{LANG}_vX.docx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Trigger: 'research proposal' / 'draft the project plan'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v8 / 2026-07-13 / EN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43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400" kern="0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the Writing Format - IMRAD, 7 Sentences, Hako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5212080" cy="3977640"/>
          </a:xfrm>
          <a:prstGeom prst="roundRect">
            <a:avLst>
              <a:gd name="adj" fmla="val 206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402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IMRAD is the world standard. The division of roles - especially separating facts (R) from interpretation (D) - earns you credit for intellectual honesty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&amp; Abstract sit outside the format yet matter most. Design for the reviewer's reading order: Title, Abstract, figures, body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abstract and Chapter 1 as a 'closed world' with the 7-sentence method; the hako template (Kiyoki lineage) reuses fixed phrasing verbatim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international journals do not open with 'We propose'. Every number needs meaning: a baseline and stakes (Prof. Oka's feedback)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309360" y="22402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CONTENTS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2697480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p.17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structure matters + IMRAD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309360" y="312724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p.18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tips: I &amp; L (with examples)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09360" y="3557016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p.19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tips: M &amp; R (with examples)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09360" y="3986784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p.20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tips: D &amp; Conclusion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09360" y="4416552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p.21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ILMRAD &amp; Related Work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09360" y="4846320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p.22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&amp; Abstract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09360" y="527608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p.23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&amp; Supplementary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961120" y="2697480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p.24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7-sentence abstract (A. Uraki)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961120" y="312724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p.25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sentences: worked example (P620)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961120" y="3557016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p.26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5-chapter hako template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961120" y="3986784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p.27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Hako fixed phrases: examples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961120" y="4416552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p.28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formats are 'cool'; field differences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961120" y="4846320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p.29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Top-journal lessons 1 (Prof. Oka)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961120" y="527608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p.30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Top-journal lessons 2 (Prof. Oka)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43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 -  CHOOSING THE WRITING FORMAT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care about structure? The international standard: IMRAD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536192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Readers can predict what comes next, lowering their cognitive load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88536" y="141732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7141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928616" y="1536192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notice what you have NOT written, reducing gaps in the paper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74152" y="141732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5703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714232" y="1536192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Riding the conventions professionals share tangibly raises acceptance odds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83464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292608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9224" y="34381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9224" y="37307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question; position the work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136392" y="3337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28416" y="283464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292608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474720" y="34381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74720" y="37307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procedure. Life sciences: 'Materials and Methods'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61888" y="3337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53912" y="283464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0216" y="292608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300216" y="34381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300216" y="37307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the facts obtained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787384" y="3337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979408" y="283464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25712" y="292608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9125712" y="34381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125712" y="37307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Interpretation, limitations, implications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" y="434340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logic: why ask - how investigated - what was found - what it means.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2920" y="475488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864608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Formally adopted by ANSI in 1972 and 1979. </a:t>
            </a:r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the 1980s virtually every scientific journal uses it. A novel result alone is not enough - reviewers and editors must be able to follow the argument in limited time. Following the format frees you to focus on the science. Scope: original research articles.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v8 / 2026-07-13 / EN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43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 -  CHAPTER TIPS (1/3)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and Literature Review - with example sentences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179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 </a:t>
            </a:r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- the first gate: context and question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Include: field overview &amp; significance / the gap (what is unknown) / RQ &amp; hypothesis / explicit contributions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Tips: the entrance that convinces readers it is worth reading. Funnel from broad background to focus to this work. The gap justifies the work's necessity.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50292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2918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(3-step funnel):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"X has spread rapidly in recent years (broad). However, Y remains poorly understood (gap). This study proposes Z, contributing ... (this work)."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72200" y="1371600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5179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 </a:t>
            </a:r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 - draw the map of the debate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192024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Include: comprehensive collection / grouping by issue (not chronology) / each work's contribution &amp; limits / a bridge to the gap this work fills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Tips: write 'what is known and unknown', not 'who said what'. In short conference papers, a Related Work section suffices.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3200400"/>
            <a:ext cx="50292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32918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(closing bridge):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"Thus, no method satisfies both X and Y simultaneously. This study fills that gap." - always connect the review's conclusion to your work.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461772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0E2A4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7091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 mapping: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= blueprint slots I1-I5 (importance / gap / approach declaration / contribution list / roadmap); L = R1-R3 (by issue / two-axis positioning / delta vs. your group's prior work). Checked by audit items 12-13.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v8 / 2026-07-13 / EN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43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 -  CHAPTER TIPS (2/3)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 and Results - reproducibility, and facts only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179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 </a:t>
            </a:r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 - so a third party can reproduce 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Include: design / subjects, data, N &amp; selection criteria / equipment, software &amp; versions / analysis &amp; statistics / ethics approval (human subjects)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Tips: life sciences &amp; agriculture title it 'Materials and Methods'; social sciences &amp; engineering usually just 'Methods'. Objective, descriptive; no interpretation. Keep asking: could someone reproduce this?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3401568"/>
            <a:ext cx="50292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47472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"Analyses used Python 3.11 and scikit-learn 1.4. Participants were 32 (criteria: ...). Approved by the ... ethics board (No. ...)."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72200" y="1371600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5179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- facts only, no interpretation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19202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Include: observed / measured facts / figures &amp; tables (the stars) / brief text pointing at their key points / negative results too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Tips: 'suggests' and 'is considered' belong in Discussion. Always reference figure/table numbers in the text. Report numbers as they are, no embellishment.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3401568"/>
            <a:ext cx="50292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347472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(bad - good):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Bad: "accuracy is considered improved" - Good: "the proposed method achieved 92.4% accuracy, exceeding the baseline (85.1%) (Table 2)."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461772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0E2A4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7091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 caveat: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'no interpretation in Results' is an IMRAD rule (audit item 15). The hako template's Experiment blocks include verbal interpretation in step (6), so the rule does not apply there (N/A).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v8 / 2026-07-13 / EN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43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 -  CHAPTER TIPS (3/3)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and Conclusion - answer 'so what?'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126480" cy="3108960"/>
          </a:xfrm>
          <a:prstGeom prst="roundRect">
            <a:avLst>
              <a:gd name="adj" fmla="val 2353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1790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 </a:t>
            </a:r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- the intellectual core that gives meaning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Include: one-paragraph summary of key results / comparison with prior work (agreements, disagreements, and why) / theoretical &amp; practical implications / limitations / future directions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Tips: do not repeat Results - speak about meaning. Not hiding limitations builds trust. Answer 'so what?'. In CS &amp; engineering, merging Results + Discussion is common.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3401568"/>
            <a:ext cx="56692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474720"/>
            <a:ext cx="5394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(compare - reason - limit):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"This result supports hypothesis X. Unlike Smith et al. [3], we observed Y; a possible reason is Z. A limitation is that our subjects are restricted to W."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12280" y="1371600"/>
            <a:ext cx="4846320" cy="3108960"/>
          </a:xfrm>
          <a:prstGeom prst="roundRect">
            <a:avLst>
              <a:gd name="adj" fmla="val 235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151790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to add a Conclusion is a field convention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040880" y="1901952"/>
            <a:ext cx="4389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papers - separate Conclusion recommended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tends to run long; restating contributions briefly is kind to readers.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conference papers - conclude inside Discussion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limits: a closing paragraph of the Discussion suffices.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Theses - separate Conclusion nearly mandatory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chapter surveying contributions, limits and outlook is formally expected.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466344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6634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check the target venue's Author Guidelines and recent papers before submitting (audit items 16-17: comparison, limitations &amp; implications present; Conclusion placement chosen deliberately).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v8 / 2026-07-13 / EN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43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 -  CHOOSING THE WRITING FORMAT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extended form ILMRAD (5 chapters) - writing the Literature Review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4904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" y="1965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78608" y="176479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70632" y="14173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16936" y="14904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916936" y="1965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33672" y="15087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46320" y="176479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38344" y="14173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84648" y="14904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184648" y="1965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14032" y="176479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06056" y="14173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14904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52360" y="1965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381744" y="176479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573768" y="14173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20072" y="14904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720072" y="1965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2606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Literature Review chapter is inserted between Introduction and Methods. Widely used in full journal papers and theses. CS conferences usually call it Related Work.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3246120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33756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by issue (not chronology)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0" y="333756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'the lineage of method A then B' - set up evaluation axes (issues). A year-by-year list is a failure mode.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4197096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28853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Two-axis positioning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29200" y="4288536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two evaluation axes and show 'prior work achieves at most one; ours achieves both'. Example: 'real-time processing x personal adaptation - existing work does one or the other; ours does both'. A figure helps.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5148072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523951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vs. your group's prior work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29200" y="523951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foundational prior work explicitly and make this paper's delta (what is newly added) crystal clear.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v8 / 2026-07-13 / EN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43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 -  CHOOSING THE WRITING FORMAT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and Abstract - the crucial elements OUTSIDE the format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acronym IMRAD excludes Title, Abstract and References - yet these are the paper's face, read first.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892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9224" y="22951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relevant?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136392" y="20848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28416" y="178308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892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2951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Worth reading?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61888" y="20848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53912" y="178308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0216" y="1892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&amp; Tables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0216" y="22951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found?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787384" y="20848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79408" y="178308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25712" y="1892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body (IMRAD)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25712" y="22951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details?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297180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2724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Two-stage: Working then Final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3493008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Abstract (draft)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before you start, a provisional final form that serves as the paper's compass. It is expected to change.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Abstract (for submission)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Rewritten last, after the body is done - yet read first by reviewers. Check that the Abstract + figures alone convey the skeleton.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72200" y="297180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0" y="312724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Abstract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3474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abstract itself is structured as a miniature IMRAD; increasingly standardized at journals.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40233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/ Intro - Introduction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- end of Introduction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 - Methods  /  Results - Results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 - Discussion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v8 / 2026-07-13 / EN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43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 -  CHOOSING THE WRITING FORMAT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and Supplementary Material - modern academic etiquette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also sit outside the IMRAD acronym yet are mandatory. Supplementary material is now established etiquette.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938528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Supplementary references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2376" y="2286000"/>
            <a:ext cx="5047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reference list overflows the body, link the rest as Supplementary References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91656" y="1938528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methods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91656" y="2286000"/>
            <a:ext cx="5047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protocols recorded as Extended Methods to guarantee reproducibility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06324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3172968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figures &amp; raw data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2376" y="3520440"/>
            <a:ext cx="5047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supplementary figures, raw data and analysis code while keeping the body readable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306324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91656" y="3172968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data &amp; video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91656" y="3520440"/>
            <a:ext cx="5047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Formats that cannot be embedded (CSV, video, spreadsheets, ...)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4389120"/>
            <a:ext cx="11155680" cy="1280160"/>
          </a:xfrm>
          <a:prstGeom prst="roundRect">
            <a:avLst>
              <a:gd name="adj" fmla="val 5714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517136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quality check (maps to audit items 08-11): 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overflow references moved to Supplementary and referenced from the body  [ ] ~70% from 2020 onward (N/A for the hako skeleton)  [ ] arXiv labeled 'preprint' (allowed in AI/ML)  [ ] citation style (AMA/APA) matches the venue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v8 / 2026-07-13 / EN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43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 -  CHOOSING THE WRITING FORMAT (BY ASSOC. PROF. ASAKO URAKI)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7-sentence abstract &amp; Chapter 1 - build a closed world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EFEBF6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4630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general, a human (a brain process / function) does it this way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51560" y="1728216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tackling something humans cannot do: define 'this is hard for humans'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2075688"/>
            <a:ext cx="6949440" cy="457200"/>
          </a:xfrm>
          <a:prstGeom prst="roundRect">
            <a:avLst>
              <a:gd name="adj" fmla="val 16000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15798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57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07568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However, this has not yet been realized in any system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624328"/>
            <a:ext cx="6949440" cy="457200"/>
          </a:xfrm>
          <a:prstGeom prst="roundRect">
            <a:avLst>
              <a:gd name="adj" fmla="val 16000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70662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62432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Therefore, realizing it is an important challenge in this field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172968"/>
            <a:ext cx="6949440" cy="457200"/>
          </a:xfrm>
          <a:prstGeom prst="roundRect">
            <a:avLst>
              <a:gd name="adj" fmla="val 16000"/>
            </a:avLst>
          </a:prstGeom>
          <a:solidFill>
            <a:srgbClr val="EFEBF6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25526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317296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propose (the paper title)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3721608"/>
            <a:ext cx="6949440" cy="457200"/>
          </a:xfrm>
          <a:prstGeom prst="roundRect">
            <a:avLst>
              <a:gd name="adj" fmla="val 16000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80390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803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372160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essential feature of this work is that it ... (the feature realizing sentence 1's function)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4270248"/>
            <a:ext cx="6949440" cy="457200"/>
          </a:xfrm>
          <a:prstGeom prst="roundRect">
            <a:avLst>
              <a:gd name="adj" fmla="val 16000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35254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352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427024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Realizing this work makes ... possible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4818888"/>
            <a:ext cx="6949440" cy="457200"/>
          </a:xfrm>
          <a:prstGeom prst="roundRect">
            <a:avLst>
              <a:gd name="adj" fmla="val 16000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490118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901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51560" y="481888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our experiments, we built ... and verified effectiveness and feasibility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680960" y="1417320"/>
            <a:ext cx="3977640" cy="2514600"/>
          </a:xfrm>
          <a:prstGeom prst="roundRect">
            <a:avLst>
              <a:gd name="adj" fmla="val 2909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882128" y="1572768"/>
            <a:ext cx="3575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'closed world'?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882128" y="1920240"/>
            <a:ext cx="35753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Pulling vast related work and context into the background inflates the world-view until its completeness can no longer be defined. Close a complete world first with the opening four sentences (human function - unrealized - key challenge - proposal), then explain the proposal cleanly inside it. Most people write sentences 5-7 well - the battle is the first four.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680960" y="406908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82128" y="4206240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is used (mechanized in v2)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882128" y="4535424"/>
            <a:ext cx="3575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into paper-compiler v2 as the Abstract / Intro generation recipe for IMRAD, and checked by audit item 18 (closed-world check). Expanding to Chapter 1: reorder slightly and grow each sentence into a few sentences.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v8 / 2026-07-13 / EN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43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 -  BY ASSOC. PROF. ASAKO URAKI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sentences worked example - P620 'Time-axis Granularity Synthesizer'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7406640" cy="530352"/>
          </a:xfrm>
          <a:prstGeom prst="roundRect">
            <a:avLst>
              <a:gd name="adj" fmla="val 13793"/>
            </a:avLst>
          </a:prstGeom>
          <a:solidFill>
            <a:srgbClr val="EFEBF6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36192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36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417320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general, humans understand conversation, music and behavior by freely switching the time granularity - coarser or finer - depending on the situation.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2039112"/>
            <a:ext cx="7406640" cy="530352"/>
          </a:xfrm>
          <a:prstGeom prst="roundRect">
            <a:avLst>
              <a:gd name="adj" fmla="val 13793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5798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57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2039112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However, this dynamic switching of time granularity has not yet been realized in any system.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660904"/>
            <a:ext cx="7406640" cy="530352"/>
          </a:xfrm>
          <a:prstGeom prst="roundRect">
            <a:avLst>
              <a:gd name="adj" fmla="val 13793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779776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660904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Therefore, a mechanism that dynamically synthesizes and switches time granularity is an important challenge in time-series data analysis.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282696"/>
            <a:ext cx="7406640" cy="530352"/>
          </a:xfrm>
          <a:prstGeom prst="roundRect">
            <a:avLst>
              <a:gd name="adj" fmla="val 13793"/>
            </a:avLst>
          </a:prstGeom>
          <a:solidFill>
            <a:srgbClr val="EFEBF6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401568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401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282696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propose the "Time-axis Granularity Synthesizer".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3904488"/>
            <a:ext cx="7406640" cy="530352"/>
          </a:xfrm>
          <a:prstGeom prst="roundRect">
            <a:avLst>
              <a:gd name="adj" fmla="val 13793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023360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3904488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essential feature of this work is that it synthesizes and switches multiple time-axis granularities as combinations of element functions, mirroring human granularity switching.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4526280"/>
            <a:ext cx="7406640" cy="530352"/>
          </a:xfrm>
          <a:prstGeom prst="roundRect">
            <a:avLst>
              <a:gd name="adj" fmla="val 13793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645152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645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4526280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Realizing this work enables multi-granularity contextual analysis of a single time series.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5148072"/>
            <a:ext cx="7406640" cy="530352"/>
          </a:xfrm>
          <a:prstGeom prst="roundRect">
            <a:avLst>
              <a:gd name="adj" fmla="val 13793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526694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266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51560" y="5148072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our experiments, we built a prototype on real data and verified the method's effectiveness and feasibility.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138160" y="1417320"/>
            <a:ext cx="3520440" cy="4224528"/>
          </a:xfrm>
          <a:prstGeom prst="roundRect">
            <a:avLst>
              <a:gd name="adj" fmla="val 2078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339328" y="1572768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example shows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339328" y="1956816"/>
            <a:ext cx="31181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 1 opens with a human function, not technology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sentences close the world - no need to survey all related work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 5 echoes sentence 1's function (switching - switching)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 name is a capitalized proper noun, used consistently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Chapter 1: grow each sentence into a few, adding concrete examples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2920" y="5806440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P620, the reference paper of the hako template. In the IMRAD skeleton, compiler v2 (write) generates the Abstract in this pattern.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v8 / 2026-07-13 / EN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43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 -  KIYOKI LINEAGE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5-chapter hako template - typesetting with fixed phrases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'boxes' annotated only with what belongs where; no content. Used only for Type A/B x EJC / IOS Press venues (Kiyoki lineage). Where papers vary, follow P620 (Time-axis Granularity Synthesizer).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74520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65960" y="187452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general proposition 2 problem definition 3 method as proper noun 4 essential features 5 contribution list 6 experiment preview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874520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Background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35240" y="187452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 - self-citation block - problem logic chain 1-5 - proposal preview - two-axis positioning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2920" y="2807208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807208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Proposal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65960" y="280720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[A] concept - N elements - main function / [B] step overview + core of N elements (A/B switch)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72200" y="2807208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807208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Realization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35240" y="280720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element as an identical block (a)-(g); after equations use the "X indicates ..." pattern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3739896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739896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Experiments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65960" y="3739896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 feasibility as the evaluation axis; each Experiment has (1)-(6); Discussion has 4 fixed slots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72200" y="3739896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739896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Conclusion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35240" y="3739896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re-declaration - features &amp; contributions restated - experiment recap - the classic global human-health landing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2920" y="4809744"/>
            <a:ext cx="11155680" cy="1280160"/>
          </a:xfrm>
          <a:prstGeom prst="roundRect">
            <a:avLst>
              <a:gd name="adj" fmla="val 5714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919472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Typesetting rules (auto-checked by paper-composition-checker, H-X01-18): 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alter the fixed phrases, signature verbs (propose / present / define / realize / switch / adapt / apply) or the standing self-citation list. The method name is character-identical across all chapters. Chapter 2's notation is implemented as-is in Chapter 3. Abstract-5 contributions = Chapter-5 contributions. Keep we/our and the romanization "Kansei". IMRAD rules (70% rule, no interpretation in Results) do not apply.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v8 / 2026-07-13 / EN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43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 -  KIYOKI LINEAGE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Hako fixed phrases - gray = box (do not alter) / &lt;  &gt; = variable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2F4F6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3: proposal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429000" y="14173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propose the &lt;Method Name&gt;, which &lt;what it realizes&gt;.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2075688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2F4F6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7568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4: essential features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29000" y="207568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essential feature of &lt;Method&gt; is ... : 1) &lt;...&gt;, 2) &lt;...&gt;.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734056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2F4F6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73405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5: contribution list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29000" y="273405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contributions are summarized as follows: 1) &lt;...&gt;, 2) &lt;...&gt;.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392424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2F4F6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39242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6: experiment preview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29000" y="339242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our experiment, we &lt;...&gt; to demonstrate the feasibility and effectiveness of our method in the field of &lt;fields&gt;.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4050792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2F4F6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05079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Ch.1 para 5: proposal preview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29000" y="40507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this paper, we present/propose &lt;Method&gt; ... The overall picture ... is illustrated in Figure 1.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470916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2F4F6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7091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equations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29000" y="470916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indicates &lt;meaning of X&gt;.   - keep the identical sentence pattern vertically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5367528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2F4F6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36752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Ch.5 Future work landing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29000" y="53675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global human-health ... world-wide scope - close with the classic ending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6071616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6163056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keys to consistency (H-X checks):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Abstract-5's contribution list equals Chapter 5's (items and order). The method name is character-identical in the title, abstract and chapters 1, 2 and 5. Signature verbs and we/our are carried through every chapter.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v8 / 2026-07-13 / EN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43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 -  CHOOSING THE WRITING FORMAT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formats are 'cool' - and how fields differ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120640" cy="1170432"/>
          </a:xfrm>
          <a:prstGeom prst="roundRect">
            <a:avLst>
              <a:gd name="adj" fmla="val 6250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481328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Respect readers' time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13232" y="1828800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 whose chapters are predictable is dramatically easier to read - a statement of respect for the reader.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2670048"/>
            <a:ext cx="5120640" cy="1170432"/>
          </a:xfrm>
          <a:prstGeom prst="roundRect">
            <a:avLst>
              <a:gd name="adj" fmla="val 6250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2779776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Separate fact from interpretation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13232" y="3127248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interpretation in Results, meaning argued in Discussion - papers that keep this separation are judged intellectually honest.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3968496"/>
            <a:ext cx="5120640" cy="1170432"/>
          </a:xfrm>
          <a:prstGeom prst="roundRect">
            <a:avLst>
              <a:gd name="adj" fmla="val 6250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" y="4078224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A shared international language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13232" y="4425696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structure is standard at every university worldwide. It signals 'written by someone who learned the craft' and buys trust before the content debate begins.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531266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"Only those who can keep the format may break it when it matters."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806440" y="1371600"/>
            <a:ext cx="5852160" cy="4434840"/>
          </a:xfrm>
          <a:prstGeom prst="roundRect">
            <a:avLst>
              <a:gd name="adj" fmla="val 1649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7608" y="1499616"/>
            <a:ext cx="5449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tendencies (always check Author Guidelines and recent papers)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210312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Medicine / life sciences   </a:t>
            </a:r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IMRAD; chapter titled Materials and Methods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35040" y="248716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Psychology / social sciences   </a:t>
            </a:r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ILMRAD common; APA also recommends IMRAD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0" y="2871216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(conferences)   </a:t>
            </a:r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IMRD base; Results+Discussion sometimes merged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35040" y="3255264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(journals)   </a:t>
            </a:r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Leans ILMRAD; systematic organization expected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35040" y="363931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  </a:t>
            </a:r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IMRD base; merging also common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402336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   </a:t>
            </a:r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IMRAD generally not applied; argument-driven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35040" y="4498848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types: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research = this guide's scope (IMRAD / ILMRAD). Systematic reviews follow PRISMA, case reports CARE, editorials thematic structures (out of scope).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v8 / 2026-07-13 / EN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43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 -  TOP-JOURNAL LESSONS (PROF. SOUICHI OKA, FEEDBACK 1-2)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open with "We propose" - win with the first sentence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FDF0F0"/>
          </a:solidFill>
          <a:ln w="12700">
            <a:solidFill>
              <a:srgbClr val="EAC6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Bad: 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"This paper proposes the 10 Senses Model, an epistemologically grounded evaluation framework..."</a:t>
            </a:r>
            <a:pPr indent="0" marL="0">
              <a:buNone/>
            </a:pPr>
            <a:r>
              <a:rPr lang="en-US" sz="1000" dirty="0">
                <a:solidFill>
                  <a:srgbClr val="B0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effectively "We propose". Opening with self-introduction puts your weakest sentence in the strongest position (sentence 1).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260604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alternative openings (the Muto / Oka class of writing)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999232"/>
            <a:ext cx="11155680" cy="603504"/>
          </a:xfrm>
          <a:prstGeom prst="roundRect">
            <a:avLst>
              <a:gd name="adj" fmla="val 12121"/>
            </a:avLst>
          </a:prstGeom>
          <a:solidFill>
            <a:srgbClr val="EAF6EE"/>
          </a:solidFill>
          <a:ln w="12700">
            <a:solidFill>
              <a:srgbClr val="BFDC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99923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as subject (declarative)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09160" y="2999232"/>
            <a:ext cx="6858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10 Senses Model is a general-purpose evaluation framework...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3694176"/>
            <a:ext cx="11155680" cy="603504"/>
          </a:xfrm>
          <a:prstGeom prst="roundRect">
            <a:avLst>
              <a:gd name="adj" fmla="val 12121"/>
            </a:avLst>
          </a:prstGeom>
          <a:solidFill>
            <a:srgbClr val="EAF6EE"/>
          </a:solidFill>
          <a:ln w="12700">
            <a:solidFill>
              <a:srgbClr val="BFDC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694176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/ failure first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09160" y="3694176"/>
            <a:ext cx="6858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Conventional AI evaluation metrics fail systematically when...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4389120"/>
            <a:ext cx="11155680" cy="603504"/>
          </a:xfrm>
          <a:prstGeom prst="roundRect">
            <a:avLst>
              <a:gd name="adj" fmla="val 12121"/>
            </a:avLst>
          </a:prstGeom>
          <a:solidFill>
            <a:srgbClr val="EAF6EE"/>
          </a:solidFill>
          <a:ln w="12700">
            <a:solidFill>
              <a:srgbClr val="BFDC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438912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/ number first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4389120"/>
            <a:ext cx="6858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17.1% discrepancy rate between subjective and objective...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5138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hooks that make people read on: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surprising finding ('one in six AI recommendations was wrong') / an open question ('why do patients ignore AI even when it is right?') / a paradigm break ('is high accuracy the same as being right? No'). If you have novelty, claim it hard on page 1.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5769864"/>
            <a:ext cx="11155680" cy="713232"/>
          </a:xfrm>
          <a:prstGeom prst="roundRect">
            <a:avLst>
              <a:gd name="adj" fmla="val 10256"/>
            </a:avLst>
          </a:prstGeom>
          <a:solidFill>
            <a:srgbClr val="0E2A4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769864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with the 7 sentences and hako: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proposal declaration (sentence 4 / hako Abstract-3 "we propose") belongs mid-abstract. Open with sentences 1-3 to pull readers in; for top journals, upgrade the declaration to the framework-as-subject form. References: overseas papers by Prof. Yoshiyasu Takefuji (Musashino Univ.) and Dr. Souichi Oka (NTT IOWN Integrated Innovation Center).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v8 / 2026-07-13 / EN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43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 -  TOP-JOURNAL LESSONS (PROF. OKA, FEEDBACK 3-4)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numbers meaning; write concrete-to-abstract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1790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FB3: always say whether a number is good or bad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901952"/>
            <a:ext cx="50292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B0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Bad: 'a 17.1% discrepancy rate (non-negligible)' - no baseline; readers cannot judge severity.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Good: give meaning in three steps:</a:t>
            </a:r>
            <a:endParaRPr lang="en-US" sz="9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Conversion: 'roughly one session in six'</a:t>
            </a:r>
            <a:endParaRPr lang="en-US" sz="9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Analogy: 'a diagnostic system that errs for one patient in six is deemed unsafe even at 100% accuracy' - and state that existing accuracy metrics cannot detect this gap</a:t>
            </a:r>
            <a:endParaRPr lang="en-US" sz="9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Stakes: 'for athletes at VDOT 73-76 (Olympic / World-Championship level), a single erroneous overload prescription can wreck months of periodization and cost a once-in-four-years opportunity' - severity scales non-linearly with the reader's (user's) level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172200" y="137160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1790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FB4: the order of abstract and concrete (for EJC)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1901952"/>
            <a:ext cx="50292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B0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Bad: framework - motivation - finding (feels like reading a proposal's table of contents)</a:t>
            </a:r>
            <a:endParaRPr lang="en-US" sz="1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Good: concrete finding - universal meaning - generalize with the framework (the Nature / Science style)</a:t>
            </a:r>
            <a:endParaRPr lang="en-US" sz="1000" dirty="0"/>
          </a:p>
          <a:p>
            <a:pPr indent="0" marL="0">
              <a:spcAft>
                <a:spcPts val="700"/>
              </a:spcAft>
              <a:buNone/>
            </a:pPr>
            <a:endParaRPr lang="en-US" sz="1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EJC's taste for the conceptual does NOT mean 'abstract is fine'. It means 'claim a clear contribution at a high level of abstraction'.</a:t>
            </a:r>
            <a:endParaRPr lang="en-US" sz="1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concrete examples (e.g., sports coaching) as reinforcement of the theory; put philosophical terms (the ancient Greek triad, etc.) after the finding. When abstraction runs long, add one concrete sentence.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548640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0E2A4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54864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compiler v2: write mode demands the conversion / analogy / stakes trio for every number slot; audit flags uninterpreted numbers with a fulfillment question.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v8 / 2026-07-13 / EN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43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400" kern="0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the Paper - paper-compiler v2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5212080" cy="3977640"/>
          </a:xfrm>
          <a:prstGeom prst="roundRect">
            <a:avLst>
              <a:gd name="adj" fmla="val 206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402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along 3 axes (Type A-D x Phase P1-P4 x venue). The phase is a contract on permissible claims; overclaiming gets flagged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 v2 has three modes: write / review / audit. Gap flags + fulfillment questions + yellow highlighting mechanize convergence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paper_template has 4 parts; part 2 (Literature Review) is generated by literature-reviewer, with unverifiable sources flagged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proposals are Word-native (comments + tracked changes, author-name rule) - inline annotations are forbidden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309360" y="22402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CONTENTS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269748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p.32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 design axes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309360" y="312724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p.33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 choice &amp; A/B protocol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09360" y="355701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p.34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 v2's three modes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09360" y="3986784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p.35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write/review loop &amp; highlighting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09360" y="441655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p.36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paper_template - 4 parts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09360" y="484632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p.37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literature-researcher / reviewer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09360" y="527608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p.38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- the 18-item gate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09360" y="570585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p.39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comment &amp; tracked-change rules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43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 -  WRITING THE PAPER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 design axes - Type x Phase x Venue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1: proposal type - changes the internal structure of Methods / the proposal chapter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2743200" cy="859536"/>
          </a:xfrm>
          <a:prstGeom prst="roundRect">
            <a:avLst>
              <a:gd name="adj" fmla="val 8511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8105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proposal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" y="221284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- N elements - main function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10128" y="1737360"/>
            <a:ext cx="2743200" cy="859536"/>
          </a:xfrm>
          <a:prstGeom prst="roundRect">
            <a:avLst>
              <a:gd name="adj" fmla="val 8511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38144" y="18105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38144" y="221284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sequence - element defs - integration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117336" y="1737360"/>
            <a:ext cx="2743200" cy="859536"/>
          </a:xfrm>
          <a:prstGeom prst="roundRect">
            <a:avLst>
              <a:gd name="adj" fmla="val 8511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5352" y="18105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/ artifact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45352" y="221284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- decisions - implementation - ops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924544" y="1737360"/>
            <a:ext cx="2743200" cy="859536"/>
          </a:xfrm>
          <a:prstGeom prst="roundRect">
            <a:avLst>
              <a:gd name="adj" fmla="val 8511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0" y="18105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 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study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052560" y="221284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RQs - design - analysis - ethics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" y="2761488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2: research phase = the evaluation contract - changes what you may claim (overclaims get flagged)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127248"/>
            <a:ext cx="2743200" cy="932688"/>
          </a:xfrm>
          <a:prstGeom prst="roundRect">
            <a:avLst>
              <a:gd name="adj" fmla="val 784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" y="320040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 </a:t>
            </a:r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" y="358444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experiment - feasibility only; no effectiveness claims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310128" y="3127248"/>
            <a:ext cx="2743200" cy="932688"/>
          </a:xfrm>
          <a:prstGeom prst="roundRect">
            <a:avLst>
              <a:gd name="adj" fmla="val 784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38144" y="320040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 </a:t>
            </a:r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38144" y="358444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system + qualitative eval; no statistical generalization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117336" y="3127248"/>
            <a:ext cx="2743200" cy="932688"/>
          </a:xfrm>
          <a:prstGeom prst="roundRect">
            <a:avLst>
              <a:gd name="adj" fmla="val 784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5352" y="320040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 </a:t>
            </a:r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45352" y="358444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/ statistical eval + ablation - effectiveness OK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924544" y="3127248"/>
            <a:ext cx="2743200" cy="932688"/>
          </a:xfrm>
          <a:prstGeom prst="roundRect">
            <a:avLst>
              <a:gd name="adj" fmla="val 784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52560" y="320040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 </a:t>
            </a:r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application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052560" y="358444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eval + expert involvement - real-world utility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2920" y="4242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3: venue - changes the rigor required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4590288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workshop  -  international conference  -  top conference / journal  -  EJC / IOS Press (Kiyoki lineage)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" y="5020056"/>
            <a:ext cx="11155680" cy="658368"/>
          </a:xfrm>
          <a:prstGeom prst="roundRect">
            <a:avLst>
              <a:gd name="adj" fmla="val 11111"/>
            </a:avLst>
          </a:prstGeom>
          <a:solidFill>
            <a:srgbClr val="0E2A47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020056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x venue derives the required experiment set, metrics, sample sizes and ethics statements (handled by evaluation-planner).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v8 / 2026-07-13 / EN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43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 -  WRITING THE PAPER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 selection rules and the A/B protocol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0E2A47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 selection rules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Default is IMRAD (paper-blueprint-designer)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The 5-chapter hako is for Type A/B x EJC / IOS Press only (paper-composer + composition-checker)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Types C &amp; D always use IMRAD. Never mix skeletons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172200" y="14173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0" y="15727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protocol (from the fill-in editor)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1956816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Centered on a system / conceptual model / components - A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Centered on procedures / steps / input-compute-output - B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the inferred type up front ('Adopted version: A')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once only if genuinely torn. Never add structure the boxes lack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3931920"/>
            <a:ext cx="11155680" cy="1463040"/>
          </a:xfrm>
          <a:prstGeom prst="roundRect">
            <a:avLst>
              <a:gd name="adj" fmla="val 5000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06908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slot matrix is a shared vocabulary across skeletons. 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IMRAD = T (Title/Abstract) - I - R (Related Work) - M (swapped by type) - E (rigor swapped by phase x venue) - D - C - REF. Hako = HA (Abstract 1-6) - H1-H5 - H-REF + cross-chapter checks H-X01-18. write generates, review inspects - two faces of the same machine.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v8 / 2026-07-13 / EN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43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 -  WRITING THE PAPER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paper-compiler v2 - the write / review / audit modes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Absorbs the former paper-review-imrad, unifying writing, revision and pre-submission auditing in one skill. Routing is automatic, by input and trigger.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2376" y="1947672"/>
            <a:ext cx="3172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22376" y="2350008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22376" y="2697480"/>
            <a:ext cx="317296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" y="269748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only / 'turn this into a paper'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22376" y="3319272"/>
            <a:ext cx="3172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- slot mapping - full draft generation + gap detection. Writes in the skeleton's house style (7 sentences, hako phrases).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88536" y="178308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07992" y="1947672"/>
            <a:ext cx="3172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07992" y="2350008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 loop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07992" y="2697480"/>
            <a:ext cx="317296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269748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vX / 'what is missing?'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07992" y="3319272"/>
            <a:ext cx="3172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via the slot matrix - flags + fulfillment questions - answers - recompile - vX+1. Updates the review history in the DOCX.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74152" y="178308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93608" y="1947672"/>
            <a:ext cx="3172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93608" y="2350008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One-shot gate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93608" y="2697480"/>
            <a:ext cx="317296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403336" y="269748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draft / 'pre-submission check'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93608" y="3319272"/>
            <a:ext cx="3172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18-item pass/fail gate (paper-auditor). Self-contained. 3+ misses or a HIGH flag - proposes moving to review.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4636008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745736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(unified -er agent naming): 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paper-blueprint-designer (IMRAD blueprint + 7 sentences) / paper-composer (hako original) / paper-composition-checker (H-X consistency + A/B) / paper-auditor (18 items) / evaluation-planner (type x phase x venue)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v8 / 2026-07-13 / EN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43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 -  WRITING THE PAPER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the write / review loop - clear the flags, finish the paper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139696" cy="1188720"/>
          </a:xfrm>
          <a:prstGeom prst="roundRect">
            <a:avLst>
              <a:gd name="adj" fmla="val 6154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55448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1792" y="1883664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ideas, minutes, transcripts, notes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615184" y="1847088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79776" y="1463040"/>
            <a:ext cx="2139696" cy="1188720"/>
          </a:xfrm>
          <a:prstGeom prst="roundRect">
            <a:avLst>
              <a:gd name="adj" fmla="val 6154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8648" y="155448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table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898648" y="1883664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Item-to-slot mapping shown up front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892040" y="1847088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56632" y="1463040"/>
            <a:ext cx="2139696" cy="1188720"/>
          </a:xfrm>
          <a:prstGeom prst="roundRect">
            <a:avLst>
              <a:gd name="adj" fmla="val 6154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75504" y="155448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+ detect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175504" y="1883664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text generated; missing / partial flags + fulfillment questions attached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168896" y="1847088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33488" y="1463040"/>
            <a:ext cx="2139696" cy="1188720"/>
          </a:xfrm>
          <a:prstGeom prst="roundRect">
            <a:avLst>
              <a:gd name="adj" fmla="val 6154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155448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&amp; add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452360" y="1883664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the questions (minimal writing effort)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445752" y="1847088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10344" y="1463040"/>
            <a:ext cx="2139696" cy="1188720"/>
          </a:xfrm>
          <a:prstGeom prst="roundRect">
            <a:avLst>
              <a:gd name="adj" fmla="val 6154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29216" y="155448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Recompile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729216" y="1883664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vX+1; 4-item entry appended to review history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2920" y="2788920"/>
            <a:ext cx="11155680" cy="457200"/>
          </a:xfrm>
          <a:prstGeom prst="roundRect">
            <a:avLst>
              <a:gd name="adj" fmla="val 14000"/>
            </a:avLst>
          </a:prstGeom>
          <a:solidFill>
            <a:srgbClr val="EAF6EE"/>
          </a:solidFill>
          <a:ln w="12700">
            <a:solidFill>
              <a:srgbClr val="BFDC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27889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Convergence: 0 misses and 0 HIGH partials - 'submittable version' - delete initial questions &amp; history, pour into the venue template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342900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FF9DB"/>
          </a:solidFill>
          <a:ln w="12700">
            <a:solidFill>
              <a:srgbClr val="E8D9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5661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Unfilled slots = yellow highlight (new in v2)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31520" y="39319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Blanks that cannot be filled get yellow text highlighting in the DOCX, with the fulfillment question anchored as a comment - you see at a glance what remains.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Cleared when filled. The submission version must contain zero yellow (= leak detector). The old color-coded HTML output is retired.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342900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35661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principles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0" y="39319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bare flags: every miss / partial comes with a fulfillment question or a draft suggestion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praise: what is done well is explicitly named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fabrication: results, numbers and citations are never invented unless supplied by the user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v8 / 2026-07-13 / EN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43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 -  WRITING THE PAPER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paper_template - the paper's full history in one 4-part file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88336" cy="2194560"/>
          </a:xfrm>
          <a:prstGeom prst="roundRect">
            <a:avLst>
              <a:gd name="adj" fmla="val 3333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609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04088" y="188366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question sheet (Q1-Q12)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04088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title, type, phase, venue, skeleton, language, method name, core claim, authors, deadline, materials, version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154680" y="23774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19272" y="1463040"/>
            <a:ext cx="2688336" cy="2194560"/>
          </a:xfrm>
          <a:prstGeom prst="roundRect">
            <a:avLst>
              <a:gd name="adj" fmla="val 3333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1609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20440" y="188366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520440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&amp; updated by literature-reviewer: bibliography + plain summary + full-text URL (unverified sources flagged)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971032" y="23774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35624" y="1463040"/>
            <a:ext cx="2688336" cy="2194560"/>
          </a:xfrm>
          <a:prstGeom prst="roundRect">
            <a:avLst>
              <a:gd name="adj" fmla="val 333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36792" y="1609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36792" y="188366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history table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36792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version: praise / miss &amp; partial counts (vs. prior) / HIGH flags / key questions. Newest on top.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87384" y="23774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51976" y="1463040"/>
            <a:ext cx="2688336" cy="2194560"/>
          </a:xfrm>
          <a:prstGeom prst="roundRect">
            <a:avLst>
              <a:gd name="adj" fmla="val 333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53144" y="1609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53144" y="188366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draft area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153144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&amp; extended via the skeleton slots; unfilled = flags + yellow highlight + comments.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2920" y="3886200"/>
            <a:ext cx="11155680" cy="658368"/>
          </a:xfrm>
          <a:prstGeom prst="roundRect">
            <a:avLst>
              <a:gd name="adj" fmla="val 11111"/>
            </a:avLst>
          </a:prstGeom>
          <a:solidFill>
            <a:srgbClr val="0E2A47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886200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{YYYYMMDD}_#{VENUE}_{SHORT_TITLE}_@{FIRST_AUTHOR}_{LANG}_vX.docx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69087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Each revision bumps vX and refreshes the date (e.g. 20260706_#EJC2027_TimeAxisSynth_@Takahashi_JA_v0.docx)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Parts 1-3 persist until submission; the submission version transfers verified references into References, deletes part 2, and sweeps parts 1 &amp; 3 plus all yellow highlights (flagged sources are never transferred)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v8 / 2026-07-13 / EN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43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 -  WRITING THE PAPER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literature-reviewer - survey, plain summaries, URL verification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563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58191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list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22376" y="2075688"/>
            <a:ext cx="3172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each work exists via web search and fixes the bibliography (authors, year, title, venue). Targets the 70% post-2020 mix and reports the ratio.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88536" y="14173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9704" y="1563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928616" y="158191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summaries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07992" y="2075688"/>
            <a:ext cx="3172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lines per work, understandable by a junior-high student: what, how, and what was found - jargon rephrased (no verbatim copying of abstracts).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74152" y="14173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1563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714232" y="158191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full-text URLs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93608" y="2075688"/>
            <a:ext cx="3172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in order DOI - publisher - PubMed/PMC - arXiv (labeled preprint), with actual reachability checked. Unverifiable = flagged 'source unknown, needs checking' + how to check.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61188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3989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Called from paper-compiler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08736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Inserts / updates part 2 (Literature Review) between the initial question sheet and the review history in paper_template, on its own page. Also proposed when audit items 08-11 raise flags.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361188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73989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Called from research-proposer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408736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Placed last in the proposal, on a new page after '6. FAQ'. Overwritten on each revision; versioning follows the host document's vX. Also runs standalone: 'build me a reference list'.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534924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0E2A47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3492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fabrication (paramount):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generate unverified works, DOIs or URLs. If it cannot be confirmed, flag it. Flagged sources are never transferred into the paper's References until resolved.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62179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Division of labor: the survey / playbook at project start (top researchers, topic map, world-line, candidate list) belongs to literature-researcher, which hands its candidates to this skill.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v8 / 2026-07-13 / EN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/ 43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 -  WRITING THE PAPER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- the 18-item pre-submission gate (paper-auditor)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724912" cy="3063240"/>
          </a:xfrm>
          <a:prstGeom prst="roundRect">
            <a:avLst>
              <a:gd name="adj" fmla="val 2685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54533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 &amp; prep (01-04)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67512" y="2103120"/>
            <a:ext cx="23957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Confirm it is an original research article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IMRAD / ILMRAD choice checked against the venue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Chapter name for M (Methods / Materials and Methods)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Title: information density &amp; search keywords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319272" y="1417320"/>
            <a:ext cx="2724912" cy="3063240"/>
          </a:xfrm>
          <a:prstGeom prst="roundRect">
            <a:avLst>
              <a:gd name="adj" fmla="val 2685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83864" y="154533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Abstract (05-07)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83864" y="2103120"/>
            <a:ext cx="23957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Traces of a Working Abstract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Final rewritten after the body was done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Abstract + figures alone convey the skeleton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135624" y="1417320"/>
            <a:ext cx="2724912" cy="3063240"/>
          </a:xfrm>
          <a:prstGeom prst="roundRect">
            <a:avLst>
              <a:gd name="adj" fmla="val 2685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0216" y="154533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References (08-11)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103120"/>
            <a:ext cx="23957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Overflow moved to Supplementary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~70% post-2020 (N/A for hako)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arXiv labeled preprint (AI/ML OK)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Citation style matches the venue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951976" y="1417320"/>
            <a:ext cx="2724912" cy="3063240"/>
          </a:xfrm>
          <a:prstGeom prst="roundRect">
            <a:avLst>
              <a:gd name="adj" fmla="val 2685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16568" y="154533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Chapter roles (12-17)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16568" y="2103120"/>
            <a:ext cx="23957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I: gap &amp; contributions explicit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L: organized by issue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M: reproducible level of detail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R: no interpretation mixed in (hako N/A)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D: comparison, limitations, implications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Conclusion placement chosen deliberately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4645152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7548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Closed-world logic (item 18; 7 sentences / Uraki; new in v2): 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Abstract and early Introduction, can the opening four sentences be read in order - humans do X / not yet realized in systems / key challenge / we propose? Has the world-view stayed contained? Out-of-order or partial = partial flag (with an insertion suggestion).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5742432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Verdicts: pass / fail / needs-check / N/A (evidence quotes required).  Overall: pass / revise / major revision  -  3+ fails or a HIGH flag triggers a proposal to move to review.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v8 / 2026-07-13 / EN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/ 43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 -  WRITING THE PAPER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proposals go Word-native - comment &amp; tracked-change rules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" y="1591056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Rewrites of words / sentences - tracked changes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22376" y="1975104"/>
            <a:ext cx="5047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Insertions and deletions recorded as tracked changes, so the user can accept / reject in Word.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1656" y="1591056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Reasons, questions, alternatives - comments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391656" y="1975104"/>
            <a:ext cx="5047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Anchored to the exact text. Location-specific fulfillment questions go in both the gap report and the comment.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2962656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for missing slots: placeholder + flag + yellow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22376" y="3346704"/>
            <a:ext cx="5047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a placeholder where the slot belongs and anchor the fulfillment question there as a comment.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283464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1656" y="2962656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annotations are forbidden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91656" y="3346704"/>
            <a:ext cx="5047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write notes like [comment: ...] in the body. The history table holds summaries only (no double bookkeeping).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434340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0E2A4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43484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Author-name rule: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author of every comment and tracked change is always Yusuke Takahashi (never "Claude" or "paper-compiler"). Validate with validate.py --original before output (mandatory when tracked changes are present).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v8 / 2026-07-13 / EN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/ 43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400" kern="0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&amp; Routing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5212080" cy="3977640"/>
          </a:xfrm>
          <a:prstGeom prst="roundRect">
            <a:avLst>
              <a:gd name="adj" fmla="val 206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402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self-contained: this one guide + 5 skills (starter / proposer / compiler v2 / literature-researcher / reviewer)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the legacy research-project-plan and paper-review-imrad (JA/EN) - their triggers collide with the new skills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4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in doubt, use the situation-to-skill flowchart. The v0 relay (starter - proposer - compiler) links the whole pipeline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309360" y="22402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CONTENTS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269748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p.41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catalog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309360" y="312724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p.42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flowchart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/ 43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 -  RESOURCES &amp; ROUTING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catalog - self-contained with this guide + 5 skills</a:t>
            </a:r>
            <a:endParaRPr lang="en-US" sz="25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188720"/>
                <a:gridCol w="3017520"/>
                <a:gridCol w="33832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Resource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to use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This guide [Learning Edition]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 the 6 phases, format choice and paper writing in one place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Fully absorbs Research Start Guide v9 and Paper Structure v8 (self-contained)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research-starter + research_start_template v0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 + Tpl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Coaching &amp; progress tracking for first steps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Starts without v0, from conversation. Mechanizes the phase order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research-proposer + proposal_template v0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 + Tpl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Launching projects &amp; collaborations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Replaces research-project-plan (delete the old one)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paper-compiler v2 + paper_template v0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 + Tpl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of writing, revision and pre-submission audit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write/review/audit; absorbs paper-review-imrad (delete the old ones)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references (built into compiler v2, -er names)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built-in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blueprint-designer / composer / composition-checker / auditor / evaluation-planner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Includes A. Uraki's 7 sentences &amp; hako template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literature-researcher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project-start playbook (survey side)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Called from starter Phase 04: top researchers, topic map, world-line, candidates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literature-reviewer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Verification, plain summaries, URL checks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Takes over from researcher; called by compiler &amp; proposer. Unverified = flagged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760720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Legend: Doc (read) / Skill (upload one .skill file) / Template (copy &amp; fill)  -  </a:t>
            </a:r>
            <a:pPr indent="0" marL="0">
              <a:buNone/>
            </a:pPr>
            <a:r>
              <a:rPr lang="en-US" sz="9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 = initial template  -  Get them: https://github.com/aix-sc/research-lifecycle-guide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05332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note: delete the legacy research-project-plan and paper-review-imrad (JA/EN) before registering the new skills - the triggers collide.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v8 / 2026-07-13 / EN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/ 43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 -  RESOURCES &amp; ROUTING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in doubt - the decision flowchart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9844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about to start doing research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828032" y="129844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230368" y="1298448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D97E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76672" y="12984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research-starter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595360" y="129844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from conversation - coaches the 6 phases - ResearchStart DOCX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1956816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5681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launching a project / collaboration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28032" y="195681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30368" y="1956816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D97E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76672" y="195681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research-proposer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595360" y="195681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'research proposal' - Proposal DOCX (to kickoff-ready)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2615184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61518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to choose / learn the writing format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28032" y="261518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30368" y="2615184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0F6E8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76672" y="261518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guide, Parts 3-4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595360" y="261518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IMRAD, 7 sentences, hako and the 3 axes, all in one place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2920" y="3273552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27355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to draft / revise a paper from notes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28032" y="327355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230368" y="3273552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6B5B9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672" y="327355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 v2 (write/review)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595360" y="327355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paper_template v0 - loop until the highlighted flags are gone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2920" y="3931920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93192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a final pre-submission check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28032" y="393192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230368" y="3931920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6B5B9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76672" y="39319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 v2 (audit)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595360" y="393192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'pre-submission check' - 18-item gate - submit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02920" y="4590288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59028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the top researchers &amp; a playbook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28032" y="459028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230368" y="4590288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D97E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76672" y="45902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literature-researcher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595360" y="459028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Survey: researcher list, topic map, world-line, candidates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02920" y="5248656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524865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references verified with URLs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28032" y="524865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230368" y="5248656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D97E2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76672" y="524865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literature-reviewer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595360" y="524865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Verification: bibliography + plain summary + URL; unverified flagged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02920" y="5980176"/>
            <a:ext cx="11155680" cy="548640"/>
          </a:xfrm>
          <a:prstGeom prst="roundRect">
            <a:avLst>
              <a:gd name="adj" fmla="val 11667"/>
            </a:avLst>
          </a:prstGeom>
          <a:solidFill>
            <a:srgbClr val="0E2A47"/>
          </a:solidFill>
          <a:ln/>
        </p:spPr>
      </p:sp>
      <p:sp>
        <p:nvSpPr>
          <p:cNvPr id="47" name="Text 45"/>
          <p:cNvSpPr/>
          <p:nvPr/>
        </p:nvSpPr>
        <p:spPr>
          <a:xfrm>
            <a:off x="777240" y="598017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v0 relay: starter - proposer - compiler v2, with researcher (survey) - reviewer (verification) supporting every stage. file-naming-convention applies; JA/EN share version numbers.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Lifecycle Guide [Learning Edition] | v8 / 2026-07-13 / EN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/ 43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 forms - focus on the research itself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698480" cy="713232"/>
          </a:xfrm>
          <a:prstGeom prst="roundRect">
            <a:avLst>
              <a:gd name="adj" fmla="val 8974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691640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691640" y="169164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Steps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0" y="1691640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ORCID - question &amp; hypothesis - branding - references - venues - writing skills. research-starter coaches you.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478024"/>
            <a:ext cx="10698480" cy="713232"/>
          </a:xfrm>
          <a:prstGeom prst="roundRect">
            <a:avLst>
              <a:gd name="adj" fmla="val 8974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478024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91640" y="2478024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Start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14800" y="2478024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the plan with research-proposer; fix 'who, what, when' first.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264408"/>
            <a:ext cx="10698480" cy="713232"/>
          </a:xfrm>
          <a:prstGeom prst="roundRect">
            <a:avLst>
              <a:gd name="adj" fmla="val 8974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264408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91640" y="326440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Format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14800" y="3264408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IMRAD is the default. Build the abstract as a closed world with the 7 sentences. Hako is for Type A/B x EJC only.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4050792"/>
            <a:ext cx="10698480" cy="713232"/>
          </a:xfrm>
          <a:prstGeom prst="roundRect">
            <a:avLst>
              <a:gd name="adj" fmla="val 8974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050792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91640" y="4050792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Paper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114800" y="4050792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paper_template - compiler v2 (write/review), clearing every flag. References handled by researcher / reviewer.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4837176"/>
            <a:ext cx="10698480" cy="713232"/>
          </a:xfrm>
          <a:prstGeom prst="roundRect">
            <a:avLst>
              <a:gd name="adj" fmla="val 8974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837176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691640" y="4837176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Pre-submission Audit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114800" y="4837176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 v2 (audit): the 18-item gate. Submit when everything passes.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31520" y="5696712"/>
            <a:ext cx="10698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Skills: https://github.com/aix-sc/research-lifecycle-guide  (upload the .skill files in dist/ via Settings &gt; Skills)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6044184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Acknowledgment: Prof. Souichi Oka (Musashino Univ., DS) - feedback &amp; advice  /  Assoc. Prof. Asako Uraki (same) - 7-sentence abstract, hako template A/B, fill-in editor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6355080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AIx{} Project, Uraki-Takahashi Laboratory (Musashino University, Faculty of Data Science)  |  Research Lifecycle Guide [Learning Edition]  v8 / 2026-07-13 / EN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Lifecycle Guide [Learning Edition] v7 EN</dc:title>
  <dc:subject>PptxGenJS Presentation</dc:subject>
  <dc:creator>Musashino University Faculty of Data Science</dc:creator>
  <cp:lastModifiedBy>Musashino University Faculty of Data Science</cp:lastModifiedBy>
  <cp:revision>1</cp:revision>
  <dcterms:created xsi:type="dcterms:W3CDTF">2026-07-13T12:53:20Z</dcterms:created>
  <dcterms:modified xsi:type="dcterms:W3CDTF">2026-07-13T12:53:20Z</dcterms:modified>
</cp:coreProperties>
</file>