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AIx{} Project  -  Uraki-Takahashi Laboratory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[Learning Edition]  From a researcher's first steps to paper submission - fully self-contained, 5-skill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Steps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96896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4368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4368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9744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57216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57216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Format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22592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70064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0064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70064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Paper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3544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582912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2912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582912" y="4005072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Pre-submission Audit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502920"/>
            <a:ext cx="777240" cy="7772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v7: stage names updated; adds literature-researcher (survey agent), per-Part covers with Lessons Learned, and top-journal writing lessons (Prof. Oka's feedback)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Skills: https://github.com/aix-sc/research-lifecycle-guide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 /  2026-07-09  /  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TL;DR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guide on one page - the 5-skill system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11880" cy="1664208"/>
          </a:xfrm>
          <a:prstGeom prst="roundRect">
            <a:avLst>
              <a:gd name="adj" fmla="val 4396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5361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the research itself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22376" y="2029968"/>
            <a:ext cx="31729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tasks *around* research as reusable forms first. Executing Phases 01-06 in order is what matters most.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88536" y="1371600"/>
            <a:ext cx="3611880" cy="1664208"/>
          </a:xfrm>
          <a:prstGeom prst="roundRect">
            <a:avLst>
              <a:gd name="adj" fmla="val 4396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28616" y="15361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papers with a format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2029968"/>
            <a:ext cx="31729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is the world standard. Build the abstract and Chapter 1 with the 7-sentence method (closed world). The 5-chapter hako template is for Type A/B x EJC venues only.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74152" y="1371600"/>
            <a:ext cx="3611880" cy="1664208"/>
          </a:xfrm>
          <a:prstGeom prst="roundRect">
            <a:avLst>
              <a:gd name="adj" fmla="val 4396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714232" y="15361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to 5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93608" y="2029968"/>
            <a:ext cx="317296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= project onboarding, proposer = the plan, compiler v2 = writing + audit; references are split between researcher (survey) and reviewer (verification).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32461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x resource map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589520" y="32461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 </a:t>
            </a:r>
            <a:pPr algn="r"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</a:t>
            </a:r>
            <a:pPr algn="r"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(v0 = initial template)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First Steps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0936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Setup, 6 phases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research_start v0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98064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26080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8" name="Text 26"/>
          <p:cNvSpPr/>
          <p:nvPr/>
        </p:nvSpPr>
        <p:spPr>
          <a:xfrm>
            <a:off x="2926080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Project Start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26080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Kickoff proposal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26080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80944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926080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v0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93208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21224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36" name="Text 34"/>
          <p:cNvSpPr/>
          <p:nvPr/>
        </p:nvSpPr>
        <p:spPr>
          <a:xfrm>
            <a:off x="5221224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Choose Format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221224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/ 7 sentences / hako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221224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0F6E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76088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guide, Part 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221224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76088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into compiler v2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388352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16368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44" name="Text 42"/>
          <p:cNvSpPr/>
          <p:nvPr/>
        </p:nvSpPr>
        <p:spPr>
          <a:xfrm>
            <a:off x="7516368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Write the Paper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516368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/ review loop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516368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paper-compiler v2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16368" y="5541264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1232" y="554126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v0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9683496" y="3639312"/>
            <a:ext cx="2167128" cy="2578608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11512" y="3767328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52" name="Text 50"/>
          <p:cNvSpPr/>
          <p:nvPr/>
        </p:nvSpPr>
        <p:spPr>
          <a:xfrm>
            <a:off x="9811512" y="3767328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Audit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811512" y="4334256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18-item pre-submission gate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11512" y="4919472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866376" y="4919472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(audit)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43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813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4813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4264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TL;DR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12080" y="14264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messages and the 5-skill resource map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744200" y="14264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1031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2128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128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21579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Researcher's First Steps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12080" y="21579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6 phases in detail + drill checklist &amp; mindset + research-starter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744200" y="21579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p.4-12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83464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94436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4436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28895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288950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proposal outline &amp; writing requirements + research-proposer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44200" y="288950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p.13-15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56616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67588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67588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36210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the Writing Format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362102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IMRAD/ILMRAD, per-chapter tips with examples, Title &amp; Abstract, References, 7-sentence method, hako template, top-journal lessons (Prof. Oka)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744200" y="36210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p.16-30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429768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" y="440740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40740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43525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Paper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212080" y="435254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design axes, skeleton &amp; A/B, compiler v2's 3 modes, write loop, template v0 (4 parts), literature-researcher/reviewer, 18-item audit, Word markup rules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744200" y="435254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p.31-39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50292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1389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D97E20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" y="51389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50840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&amp; Routing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212080" y="50840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/ decision flowchart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744200" y="50840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p.40-42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7607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58704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8704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58155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212080" y="58155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checklist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744200" y="58155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p.43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43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Researcher's First Steps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tasks *around* research can be shaped into 6 phases - the order is the strategy (license, articulate, show, survey, target, write)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= your researcher's license. Write your question &amp; hypothesis on 1-2 pages of A4 and rewrite regularly - 'mental strength training'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References: the 70% post-2020 rule - literature-researcher surveys, literature-reviewer verifies. Use short communications and the arXiv custom strategically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 accompanies every phase as a 23-slot state machine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6 phases at a glance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01: ORCID registration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02: Question &amp; hypothesis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03: LP, business card, branding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04: References &amp; citation styles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05: Venues &amp; planning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06: Writing skills + research-starter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checklist &amp; mindset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A RESEARCHER'S FIRST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6 phases - do them in this order!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" y="17876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ORCID registration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your researcher's license - 'LinkedIn for researchers'. Also set up the Scholar family.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88536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17876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11496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Question &amp; hypothesis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7992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What / Why / How on 1-2 pages of A4. Choose by the 3 axes: love x can x sells.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074152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76" y="1787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97112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LP, card &amp; branding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93608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pre-registration form, business card and an MVP: become a magnet as 'the person doing X'.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470148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References &amp; prior work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22376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top researchers and build your 'playbook'. The 70% post-2020 rule.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288536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470148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11496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Venues &amp; planning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4507992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3 journals (with IF) + 3 conferences. Draft a one-year submission plan.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8074152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57032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0476" y="3470148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97112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Paper-writing skills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293608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IMRAD and English writing now. Compete on creativity x outcome.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502920" y="496519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35" name="Text 27"/>
          <p:cNvSpPr/>
          <p:nvPr/>
        </p:nvSpPr>
        <p:spPr>
          <a:xfrm>
            <a:off x="777240" y="5056632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 is the strategy.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 (01) - articulate (02) - show (03) - survey (04) - target (05) - write (06). Each phase is covered in detail on the following slides.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43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registration - get your researcher's license first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ORCID?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Researcher and Contributor ID.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international identifier for researchers that links your papers, projects and affiliations - a researcher's LinkedIn / CV.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0000-0002-1825-0097  /  Register now: https://orcid.org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it first?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938528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your license to do research - without it you barely exist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publishers (Nature, Elsevier, ...) manage authors by ORCID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Increasingly a required field at submission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Citations, co-authorships and outputs get tracked automatically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114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set up: Google Scholar / ResearchGate / Semantic Scholar.  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citation counts and h-index. Link them to ORCID for one-stop management. Always complete your profile: affiliation, research topics, education.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Drill: [ ] register at orcid.org and record URL &amp; iD  [ ] complete your profile  [ ] link the Scholar family (fill in Phase 01 of research_start_template_v0)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43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Articulate your question &amp; hypothesis - A4 x 1-2 pages becomes Chapter 1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82496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82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5448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What?  Which phenomenon or problem interests you?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93852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plainly: 'X fascinates me', 'Y is puzzling'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441448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660904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60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5328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  Why does it matter? Who is struggling?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29169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societal / natural / global theme clearly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3419856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639312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639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51129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How?  How might it be solved? (hypothesis)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89534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it as 'perhaps ...' using a DS approach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4416552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it any time. Rewriting regularly is the point - strength training for how you think.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1463040"/>
            <a:ext cx="4297680" cy="3063240"/>
          </a:xfrm>
          <a:prstGeom prst="roundRect">
            <a:avLst>
              <a:gd name="adj" fmla="val 238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axes for choosing a topic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89520" y="1975104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love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curiosity - can you sustain the passion long-term?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can do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leverage your strengths, skills, expertise?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can sell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connect to real needs of society, industry, someone?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8920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983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 science,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societal / global / natural theme you choose is itself what matters. DS techniques are the 'how' - the value of the theme is the value of the research.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43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business card &amp; branding - show your research, become a magnet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22376" y="19933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 for your topic, the problem you solve and the value you offer. 'Coming Soon' is fine before launch. Build with Webflow, Notion, etc.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Pre-registration form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91656" y="19933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Deployable today even with nothing released. Counts of interested users (and their attributes) become quantitative evidence of need. Google Forms works.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card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" y="35935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affiliation, topic, LP URL and a QR code. Express yourself in one line as 'the person doing X'. Canva works.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9165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 (MVP)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91656" y="3593592"/>
            <a:ext cx="5047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features are enough - productize the hypothesis. Qualitative feedback and usage tracking become research data.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475488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64608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 strategy: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'the person doing X' brand is established, information, introductions, collaborators and users are drawn to you. Pre-registration counts and usage logs later serve as quantitative evidence of need in your papers.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43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&amp; prior work - the playbook and citation styles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playbook - the 70% post-2020 rule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judge paper quality from the *look* of your reference list.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2331720"/>
            <a:ext cx="3520440" cy="457200"/>
          </a:xfrm>
          <a:prstGeom prst="roundRect">
            <a:avLst>
              <a:gd name="adj" fmla="val 10000"/>
            </a:avLst>
          </a:prstGeom>
          <a:solidFill>
            <a:srgbClr val="0F6E84"/>
          </a:solidFill>
          <a:ln/>
        </p:spPr>
      </p:sp>
      <p:sp>
        <p:nvSpPr>
          <p:cNvPr id="8" name="Shape 6"/>
          <p:cNvSpPr/>
          <p:nvPr/>
        </p:nvSpPr>
        <p:spPr>
          <a:xfrm>
            <a:off x="4288536" y="2331720"/>
            <a:ext cx="1472184" cy="457200"/>
          </a:xfrm>
          <a:prstGeom prst="roundRect">
            <a:avLst>
              <a:gd name="adj" fmla="val 10000"/>
            </a:avLst>
          </a:prstGeom>
          <a:solidFill>
            <a:srgbClr val="B9CDD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 from 2020 onward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51960" y="23317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52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work (70%): centered on 2020 onward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Authorities: a few classic masterpieces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 original sources can be old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top 5-10 researchers by face, name and affiliation; follow them on Google Scholar. Map where your work sits, and picture the 'world-line': how the world changes if this is solved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5544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 style (numbered [1][2])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Strategic: you control citation order / easy to cite the target journal's latest papers early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Caution: adding a reference shifts every number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35204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6576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style (author-year (Smith, 2023))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402336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Robust: numbers never shift / author names appear in the text, explicit for readers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writing author names every time. Common in social sciences &amp; psychology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target journal's style. If neither is mandated, AMA is strategically advantageous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57150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Division of labor: survey &amp; playbook = literature-researcher / verification, summaries &amp; URLs = literature-reviewer (p.37). Unverifiable sources are flagged.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43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your venues, plan your schedule - build a track record strategically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the target venue's latest issue early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the journal's recent papers early in the intro - an effective, silent signal to reviewers that you follow their venue.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88536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0056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short communications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07992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results quickly in ~3,000 words. Ranked on par with full papers. Ideal as a first publication!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74152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805672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supplementary material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93608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references or data do not fit the body, link them as an appendix - modern academic etiquette.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97764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096512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 / AI community custom - arXiv: 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preprints to arXiv is the industry standard for speed. Citing them is generally discouraged (not peer-reviewed), but in AI / ML it is acceptable when explicitly labeled as a preprint. arXiv posting usually runs in parallel with conference / journal submission - use it actively.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Drill: [ ] list 3 top journals (with IF) + 3 top conferences  [ ] draft a one-year submission plan (deadlines, venues, topics)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43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PHASE 06 +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writing skills - with research-starter alongside you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06: start training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venues assume English - start building English paper-writing skills today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expression: compete on creativity x outcome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Drill: [ ] draft title &amp; 200-char abstract  [ ] outline each IMRAD chapter  [ ] make the figure/table that carries your claim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 - a 6-phase state machine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from conversation alone, no template needed. Inspects 23 slots and interviews you with gap flags + fulfillment questions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only about the current phase, and proposes exactly one next action (the order, mechanized)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&amp; updates the ResearchStart DOCX (history: done / updated question / next action)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406908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{YYYYMMDD}_ResearchStart_@{NAME}_{LANG}_vX.docx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When all phases pass, hand over to paper_template_v0 and paper-compiler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521208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research_start_template_v0 (3 parts: initial question sheet + update history + per-phase drills)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43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 -  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Per-phase drill checklist - execute in this order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141732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Register at orcid.org, record URL &amp; iD   [ ] Also set up Google Scholar / ResearchGate / Semantic Scholar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139696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5856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585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53312" y="2139696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Answer What / Why / How in a 1-2 page A4 DOCX (update any time)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862072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80944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809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53312" y="2862072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Build a pre-registration LP; make a business card with URL &amp; QR   [ ] Publish an MVP web app linked from the LP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703320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53312" y="3584448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Output a reference list + 200-char summaries as DOCX   [ ] List the top researchers (names &amp; affiliations)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4306824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425696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2569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53312" y="4306824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List 3 top conferences + 3 journals with IF   [ ] Draft a one-year submission plan (deadlines, topics, target venues)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514807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148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53312" y="502920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Draft title, 200-char abstract and IMRAD chapter outlines as DOCX   [ ] Create the figures/tables that carry your claim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" y="57698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checklist maps 1:1 to the per-phase drill fields of research_start_template_v0 (research-starter audits progress automatically)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001000" y="1417320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83880" y="154533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the research itself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183880" y="191109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surrounding tasks as forms, then pour everything into the research. That is this guide's purpose.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01000" y="2935224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183880" y="30632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 high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8388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 / AI is the world's most important field; demand for PhDs is unprecedented. Aim for the world's top.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01000" y="4453128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183880" y="458114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into industry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183880" y="49469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ability is the most transferable skill there is. Go take on industry as a top researcher.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43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 - Design the Project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plan with a fixed outline: put 'who does what, by when' (schedule &amp; roles) right after the overview - task confirmation first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salami slicing: state each deliverable's independent contribution and the cross-citation relationships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FAQ in words a junior-high student understands; pre-empt methodological criticism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 converges to a 'kickoff-ready' version via the gap-flag / fulfillment-question loop; literature-reviewer appends related work at the end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 - fixed outline &amp; requirements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 - compile the plan in dialogue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43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 -  PROJECT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proposal - fixed outline &amp; writing requirements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577840" cy="4297680"/>
          </a:xfrm>
          <a:prstGeom prst="roundRect">
            <a:avLst>
              <a:gd name="adj" fmla="val 1702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outline (strictly in this order)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47672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 list &amp; affiliations (ORCID / e-Rad)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(abstract, one-line core claim, keywords)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&amp; roles - right after the overview (tasks first)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(problem / limits of existing methods / novelty)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Objectives, research questions, core contributions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Portfolio: deliverables &amp; author assignment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Experiment plan &amp; methods (IDs, metrics, owners)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Publication strategy (venue fit &amp; selection)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Venues, materials, links (CfP, OSS, DOI policy)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FAQ (in words a junior-high student understands)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Literature Review - appended last by literature-reviewer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74536" y="1545336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'Who, what, when' comes first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74536" y="1892808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go/no-go decision points; state deadlines, notifications and camera-ready dates up front; note dependencies between members.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55080" y="2770632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74536" y="2898648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salami slicing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74536" y="3246120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splitting into multiple papers, show each contribution's independence and cross-citations; map deliverables to speed / authority / permanence.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4123944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74536" y="4251960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Pre-empt the critics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74536" y="4599432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terms in the FAQ; prepare answers to methodological criticism for reviewers, collaborators and general readers.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55080" y="5477256"/>
            <a:ext cx="5303520" cy="566928"/>
          </a:xfrm>
          <a:prstGeom prst="roundRect">
            <a:avLst>
              <a:gd name="adj" fmla="val 11290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5477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A4, body 10.5pt, navy headings; blanks marked [   ] in amber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43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 - 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 - compile the kickoff plan in dialogue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the fixed outline as a 22-slot state machine. Starts from conversation, notes and meeting minutes alone - no template required (successor to research-project-plan, extended into a dialogue loop).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Conversation, notes, minutes, transcripts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615184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79776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98648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table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898648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which info goes into which slot, up front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92040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56632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75504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detection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175504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/ partial flags + fulfillment questions (flagging alone is forbidden)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168896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33488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&amp; add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52360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with many gaps, questions are batched into one round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445752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10344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9216" y="192024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DOCX update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729216" y="2231136"/>
            <a:ext cx="1901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4-item history entry, version +1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= kickoff necessity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5800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HIGH: researchers, overview, schedule, RQs / MEDIUM: background, portfolio, experiments, strategy / LOW: links, FAQ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288536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71416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Edits are Word-native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471416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= tracked changes; questions = comments anchored to the text. Inline annotations are forbidden.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74152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57032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 = kickoff-ready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57032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missing and 0 HIGH partials - delete the history page, distribute, then open a paper_template_v0 per deliverable.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0E2A47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89204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{YYYYMMDD}_{PROJECT}_Proposal_@{PI}_{LANG}_vX.docx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Trigger: 'research proposal' / 'draft the project plan'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43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the Writing Format - IMRAD, 7 Sentences, Hako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is the world standard. The division of roles - especially separating facts (R) from interpretation (D) - earns you credit for intellectual honesty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Abstract sit outside the format yet matter most. Design for the reviewer's reading order: Title, Abstract, figures, body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abstract and Chapter 1 as a 'closed world' with the 7-sentence method; the hako template (Kiyoki lineage) reuses fixed phrasing verbatim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international journals do not open with 'We propose'. Every number needs meaning: a baseline and stakes (Prof. Oka's feedback)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structure matters + IMRAD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p.18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tips: I &amp; L (with examples)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tips: M &amp; R (with examples)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tips: D &amp; Conclusion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p.21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ILMRAD &amp; Related Work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p.22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Abstract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&amp; Supplementary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7-sentence abstract (Uraki)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96112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sentences: worked example (P620)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96112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5-chapter hako template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6112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p.27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Hako fixed phrases: examples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96112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formats are 'cool'; field differences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96112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p.29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Top-journal lessons 1 (Prof. Oka)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Top-journal lessons 2 (Prof. Oka)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43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care about structure? The international standard: IMRAD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Readers can predict what comes next, lowering their cognitive load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88536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7141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28616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notice what you have NOT written, reducing gaps in the paper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74152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5703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14232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Riding the conventions professionals share tangibly raises acceptance odds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question; position the work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36392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28416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74720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74720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 procedure. Life sciences: 'Materials and Methods'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61888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53912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300216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00216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the facts obtained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787384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979408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25712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125712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25712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Interpretation, limitations, implications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43434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logic: why ask - how investigated - what was found - what it means.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7548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864608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Formally adopted by ANSI in 1972 and 1979.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 1980s virtually every scientific journal uses it. A novel result alone is not enough - reviewers and editors must be able to follow the argument in limited time. Following the format frees you to focus on the science. Scope: original research articles.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43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CHAPTER TIPS (1/3)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and Literature Review - with example sentences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- the first gate: context and question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field overview &amp; significance / the gap (what is unknown) / RQ &amp; hypothesis / explicit contributions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the entrance that convinces readers it is worth reading. Funnel from broad background to focus to this work. The gap justifies the work's necessity.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(3-step funnel):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"X has spread rapidly in recent years (broad). However, Y remains poorly understood (gap). This study proposes Z, contributing ... (this work)."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- draw the map of the debate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comprehensive collection / grouping by issue (not chronology) / each work's contribution &amp; limits / a bridge to the gap this work fills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write 'what is known and unknown', not 'who said what'. In short conference papers, a Related Work section suffices.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(closing bridge):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"Thus, no method satisfies both X and Y simultaneously. This study fills that gap." - always connect the review's conclusion to your work.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mapping: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= blueprint slots I1-I5 (importance / gap / approach declaration / contribution list / roadmap); L = R1-R3 (by issue / two-axis positioning / delta vs. your group's prior work). Checked by audit items 12-13.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43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CHAPTER TIPS (2/3)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and Results - reproducibility, and facts only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- so a third party can reproduce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design / subjects, data, N &amp; selection criteria / equipment, software &amp; versions / analysis &amp; statistics / ethics approval (human subjects)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life sciences &amp; agriculture title it 'Materials and Methods'; social sciences &amp; engineering usually just 'Methods'. Objective, descriptive; no interpretation. Keep asking: could someone reproduce this?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"Analyses used Python 3.11 and scikit-learn 1.4. Participants were 32 (criteria: ...). Approved by the ... ethics board (No. ...)."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- facts only, no interpretation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observed / measured facts / figures &amp; tables (the stars) / brief text pointing at their key points / negative results too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'suggests' and 'is considered' belong in Discussion. Always reference figure/table numbers in the text. Report numbers as they are, no embellishment.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(bad - good):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"accuracy is considered improved" - Good: "the proposed method achieved 92.4% accuracy, exceeding the baseline (85.1%) (Table 2)."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caveat: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'no interpretation in Results' is an IMRAD rule (audit item 15). The hako template's Experiment blocks include verbal interpretation in step (6), so the rule does not apply there (N/A).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43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CHAPTER TIPS (3/3)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and Conclusion - answer 'so what?'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6126480" cy="3108960"/>
          </a:xfrm>
          <a:prstGeom prst="roundRect">
            <a:avLst>
              <a:gd name="adj" fmla="val 235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- the intellectual core that gives meaning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Include: one-paragraph summary of key results / comparison with prior work (agreements, disagreements, and why) / theoretical &amp; practical implications / limitations / future directions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Tips: do not repeat Results - speak about meaning. Not hiding limitations builds trust. Answer 'so what?'. In CS &amp; engineering, merging Results + Discussion is common.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(compare - reason - limit):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result supports hypothesis X. Unlike Smith et al. [3], we observed Y; a possible reason is Z. A limitation is that our subjects are restricted to W."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12280" y="1371600"/>
            <a:ext cx="4846320" cy="3108960"/>
          </a:xfrm>
          <a:prstGeom prst="roundRect">
            <a:avLst>
              <a:gd name="adj" fmla="val 235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15179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to add a Conclusion is a field convention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0" y="1901952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papers - separate Conclusion recommended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tends to run long; restating contributions briefly is kind to readers.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conference papers - conclude inside Discussion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limits: a closing paragraph of the Discussion suffices.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Theses - separate Conclusion nearly mandatory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surveying contributions, limits and outlook is formally expected.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46634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check the target venue's Author Guidelines and recent papers before submitting (audit items 16-17: comparison, limitations &amp; implications present; Conclusion placement chosen deliberately).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43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extended form ILMRAD (5 chapters) - writing the Literature Review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9224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578608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70632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6936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16936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33672" y="15087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46320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38344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84648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84648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4032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06056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452360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81744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73768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0072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720072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26060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Literature Review chapter is inserted between Introduction and Methods. Widely used in full journal papers and theses. CS conferences usually call it Related Work.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24612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3375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by issue (not chronology)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0" y="333756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'the lineage of method A then B' - set up evaluation axes (issues). A year-by-year list is a failure mode.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419709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28853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Two-axis positioning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0" y="42885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two evaluation axes and show 'prior work achieves at most one; ours achieves both'. Example: 'real-time processing x personal adaptation - existing work does one or the other; ours does both'. A figure helps.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14807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2395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vs. your group's prior work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9200" y="523951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foundational prior work explicitly and make this paper's delta (what is newly added) crystal clear.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43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and Abstract - the crucial elements OUTSIDE the format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acronym IMRAD excludes Title, Abstract and References - yet these are the paper's face, read first.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relevant?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136392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28416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reading?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61888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912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0216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&amp; Tables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0216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found?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787384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79408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5712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body (IMRAD)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25712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details?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Two-stage: Working then Final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3493008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Abstract (draft)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before you start, a provisional final form that serves as the paper's compass. It is expected to change.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Abstract (for submission)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Rewritten last, after the body is done - yet read first by reviewers. Check that the Abstract + figures alone convey the skeleton.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Abstract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3474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abstract itself is structured as a miniature IMRAD; increasingly standardized at journals.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40233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/ Intro - Introduction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- end of Introduction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- Methods  /  Results - Results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- Discussion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43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and Supplementary Material - modern academic etiquette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also sit outside the IMRAD acronym yet are mandatory. Supplementary material is now established etiquette.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references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237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reference list overflows the body, link the rest as Supplementary References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9165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methods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9165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protocols recorded as Extended Methods to guarantee reproducibility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237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figures &amp; raw data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237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supplementary figures, raw data and analysis code while keeping the body readable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data &amp; video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9165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Formats that cannot be embedded (CSV, video, spreadsheets, ...)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3891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517136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quality check (maps to audit items 08-11): 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] overflow references moved to Supplementary and referenced from the body  [ ] ~70% from 2020 onward (N/A for the hako skeleton)  [ ] arXiv labeled 'preprint' (allowed in AI/ML)  [ ] citation style (AMA/APA) matches the venue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43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 (URAKI METHOD)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7-sentence abstract &amp; Chapter 1 - build a closed world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63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general, a human (a brain process / function) does it this way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51560" y="172821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tackling something humans cannot do: define 'this is hard for humans'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20756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0756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However, this has not yet been realized in any system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2432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0662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06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62432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Therefore, realizing it is an important challenge in this field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17296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25526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317296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propose (the paper title)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72160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80390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803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72160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essential feature of this work is that it ... (the feature realizing sentence 1's function)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27024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3525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42702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Realizing this work makes ... possible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9011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901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51560" y="48188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our experiments, we built ... and verified effectiveness and feasibility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680960" y="14173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882128" y="157276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'closed world'?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882128" y="1920240"/>
            <a:ext cx="3575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Pulling vast related work and context into the background inflates the world-view until its completeness can no longer be defined. Close a complete world first with the opening four sentences (human function - unrealized - key challenge - proposal), then explain the proposal cleanly inside it. Most people write sentences 5-7 well - the battle is the first four.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680960" y="40690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82128" y="4206240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is used (mechanized in v2)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882128" y="4535424"/>
            <a:ext cx="3575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into paper-compiler v2 as the Abstract / Intro generation recipe for IMRAD, and checked by audit item 18 (closed-world check). Expanding to Chapter 1: reorder slightly and grow each sentence into a few sentences.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43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URAKI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sentences worked example - P620 'Time-axis Granularity Synthesizer'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1732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general, humans understand conversation, music and behavior by freely switching the time granularity - coarser or finer - depending on the situation.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03911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03911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However, this dynamic switching of time granularity has not yet been realized in any system.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660904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79776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79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660904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Therefore, a mechanism that dynamically synthesizes and switches time granularity is an important challenge in time-series data analysis.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282696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401568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3282696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propose the "Time-axis Granularity Synthesizer".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904488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2336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904488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essential feature of this work is that it synthesizes and switches multiple time-axis granularities as combinations of element functions, mirroring human granularity switching.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452628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4515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" y="452628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Realizing this work enables multi-granularity contextual analysis of a single time series.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514807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669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514807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our experiments, we built a prototype on real data and verified the method's effectiveness and feasibility.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138160" y="1417320"/>
            <a:ext cx="3520440" cy="4224528"/>
          </a:xfrm>
          <a:prstGeom prst="roundRect">
            <a:avLst>
              <a:gd name="adj" fmla="val 2078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339328" y="1572768"/>
            <a:ext cx="3118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example shows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339328" y="1956816"/>
            <a:ext cx="31181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1 opens with a human function, not technology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sentences close the world - no need to survey all related work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5 echoes sentence 1's function (switching - switching)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name is a capitalized proper noun, used consistently</a:t>
            </a:r>
            <a:endParaRPr lang="en-US" sz="9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Chapter 1: grow each sentence into a few, adding concrete examples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2920" y="5806440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P620, the reference paper of the hako template. In the IMRAD skeleton, compiler v2 (write) generates the Abstract in this pattern.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43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KIYOKI LINEAGE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5-chapter hako template - typesetting with fixed phrases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'boxes' annotated only with what belongs where; no content. Used only for Type A/B x EJC / IOS Press venues (Kiyoki lineage). Where papers vary, follow P620 (Time-axis Granularity Synthesizer).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7452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65960" y="187452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general proposition 2 problem definition 3 method as proper noun 4 essential features 5 contribution list 6 experiment preview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87452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Background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635240" y="1874520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importance - self-citation block - problem logic chain 1-5 - proposal preview - two-axis positioning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Proposal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65960" y="280720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[A] concept - N elements - main function / [B] step overview + core of N elements (A/B switch)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807208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Realization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35240" y="2807208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element as an identical block (a)-(g); after equations use the "X indicates ..." pattern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39896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Experiments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65960" y="3739896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 feasibility as the evaluation axis; each Experiment has (1)-(6); Discussion has 4 fixed slots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7220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739896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Conclusion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35240" y="3739896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re-declaration - features &amp; contributions restated - experiment recap - the classic global human-health landing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4809744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947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Typesetting rules (auto-checked by paper-composition-checker, H-X01-18): 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alter the fixed phrases, signature verbs (propose / present / define / realize / switch / adapt / apply) or the standing self-citation list. The method name is character-identical across all chapters. Chapter 2's notation is implemented as-is in Chapter 3. Abstract-5 contributions = Chapter-5 contributions. Keep we/our and the romanization "Kansei". IMRAD rules (70% rule, no interpretation in Results) do not apply.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43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KIYOKI LINEAGE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Hako fixed phrases - gray = box (do not alter) / &lt;  &gt; = variable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3: proposal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429000" y="14173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propose the &lt;Method Name&gt;, which &lt;what it realizes&gt;.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07568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756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4: essential features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29000" y="20756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essential feature of &lt;Method&gt; is ... : 1) &lt;...&gt;, 2) &lt;...&gt;.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734056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340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5: contribution list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29000" y="273405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contributions are summarized as follows: 1) &lt;...&gt;, 2) &lt;...&gt;.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3392424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3924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6: experiment preview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429000" y="339242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our experiment, we &lt;...&gt; to demonstrate the feasibility and effectiveness of our method in the field of &lt;fields&gt;.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4050792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507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Ch.1 para 5: proposal preview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429000" y="4050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this paper, we present/propose &lt;Method&gt; ... The overall picture ... is illustrated in Figure 1.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470916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equations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29000" y="470916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indicates &lt;meaning of X&gt;.   - keep the identical sentence pattern vertically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536752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3675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Ch.5 Future work landing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429000" y="53675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global human-health ... world-wide scope - close with the classic ending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607161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6163056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keys to consistency (H-X checks): 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Abstract-5's contribution list equals Chapter 5's (items and order). The method name is character-identical in the title, abstract and chapters 1, 2 and 5. Signature verbs and we/our are carried through every chapter.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43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CHOOSING THE WRITING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formats are 'cool' - and how fields differ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48132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Respect readers' time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13232" y="182880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structure whose chapters are predictable is dramatically easier to read - a statement of respect for the reader.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2670048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79776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Separate fact from interpretation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13232" y="312724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interpretation in Results, meaning argued in Discussion - papers that keep this separation are judged intellectually honest.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3968496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4078224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A shared international language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13232" y="442569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structure is standard at every university worldwide. It signals 'written by someone who learned the craft' and buys trust before the content debate begins.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531266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"Only those who can keep the format may break it when it matters."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06440" y="1371600"/>
            <a:ext cx="5852160" cy="4434840"/>
          </a:xfrm>
          <a:prstGeom prst="roundRect">
            <a:avLst>
              <a:gd name="adj" fmla="val 164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07608" y="1499616"/>
            <a:ext cx="5449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tendencies (always check Author Guidelines and recent papers)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1031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Medicine / life sciences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IMRAD; chapter titled Materials and Methods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24871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Psychology / social sciences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ILMRAD common; APA also recommends IMRAD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35040" y="287121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(conferences)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IMRD base; Results+Discussion sometimes merged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35040" y="3255264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(journals)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Leans ILMRAD; systematic organization expected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639312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IMRD base; merging also common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402336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Humanities   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generally not applied; argument-driven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35040" y="449884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types: 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research = this guide's scope (IMRAD / ILMRAD). Systematic reviews follow PRISMA, case reports CARE, editorials thematic structures (out of scope).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43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TOP-JOURNAL LESSONS (PROF. SOUICHI OKA, FEEDBACK 1-2)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open with "We propose" - win with the first sentence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DF0F0"/>
          </a:solidFill>
          <a:ln w="12700">
            <a:solidFill>
              <a:srgbClr val="EAC6C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"This paper proposes the 10 Senses Model, an epistemologically grounded evaluation framework..."</a:t>
            </a:r>
            <a:pPr indent="0" marL="0">
              <a:buNone/>
            </a:pPr>
            <a:r>
              <a:rPr lang="en-US" sz="1000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effectively "We propose". Opening with self-introduction puts your weakest sentence in the strongest position (sentence 1).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alternative openings (the Muto / Oka class of writing)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99923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as subject (declarative)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09160" y="2999232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10 Senses Model is a general-purpose evaluation framework...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694176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69417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/ failure first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09160" y="3694176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Conventional AI evaluation metrics fail systematically when...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389120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4389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/ number first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4389120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17.1% discrepancy rate between subjective and objective...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5138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hooks that make people read on: </a:t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surprising finding ('one in six AI recommendations was wrong') / an open question ('why do patients ignore AI even when it is right?') / a paradigm break ('is high accuracy the same as being right? No'). If you have novelty, claim it hard on page 1.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5769864"/>
            <a:ext cx="11155680" cy="713232"/>
          </a:xfrm>
          <a:prstGeom prst="roundRect">
            <a:avLst>
              <a:gd name="adj" fmla="val 10256"/>
            </a:avLst>
          </a:prstGeom>
          <a:solidFill>
            <a:srgbClr val="0E2A4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769864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with the 7 sentences and hako: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 declaration (sentence 4 / hako Abstract-3 "we propose") belongs mid-abstract. Open with sentences 1-3 to pull readers in; for top journals, upgrade the declaration to the framework-as-subject form. References: overseas papers by Prof. Yoshiyasu Takefuji (Musashino Univ.) and Dr. Souichi Oka (NTT IOWN Integrated Innovation Center).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43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 -  TOP-JOURNAL LESSONS (PROF. OKA, FEEDBACK 3-4)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numbers meaning; write concrete-to-abstract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FB3: always say whether a number is good or bad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'a 17.1% discrepancy rate (non-negligible)' - no baseline; readers cannot judge severity.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Good: give meaning in three steps:</a:t>
            </a:r>
            <a:endParaRPr lang="en-US" sz="9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Conversion: 'roughly one session in six'</a:t>
            </a:r>
            <a:endParaRPr lang="en-US" sz="9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Analogy: 'a diagnostic system that errs for one patient in six is deemed unsafe even at 100% accuracy' - and state that existing accuracy metrics cannot detect this gap</a:t>
            </a:r>
            <a:endParaRPr lang="en-US" sz="9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Stakes: 'for athletes at VDOT 73-76 (Olympic / World-Championship level), a single erroneous overload prescription can wreck months of periodization and cost a once-in-four-years opportunity' - severity scales non-linearly with the reader's (user's) level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FB4: the order of abstract and concrete (for EJC)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B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Bad: framework - motivation - finding (feels like reading a proposal's table of contents)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Good: concrete finding - universal meaning - generalize with the framework (the Nature / Science style)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EJC's taste for the conceptual does NOT mean 'abstract is fine'. It means 'claim a clear contribution at a high level of abstraction'.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concrete examples (e.g., sports coaching) as reinforcement of the theory; put philosophical terms (the ancient Greek triad, etc.) after the finding. When abstraction runs long, add one concrete sentence.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864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compiler v2: write mode demands the conversion / analogy / stakes trio for every number slot; audit flags uninterpreted numbers with a fulfillment question.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43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Paper - paper-compiler v2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along 3 axes (Type A-D x Phase P1-P4 x venue). The phase is a contract on permissible claims; overclaiming gets flagged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has three modes: write / review / audit. Gap flags + fulfillment questions + yellow highlighting mechanize convergence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has 4 parts; part 2 (Literature Review) is generated by literature-reviewer, with unverifiable sources flagged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proposals are Word-native (comments + tracked changes, author-name rule) - inline annotations are forbidden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 design axes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choice &amp; A/B protocol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v2's three modes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write/review loop &amp; highlighting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- 4 parts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literature-researcher / reviewer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- the 18-item gate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comment &amp; tracked-change rules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43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 design axes - Type x Phase x Venue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1: proposal type - changes the internal structure of Methods / the proposal chapter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proposal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- N elements - main function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10128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38144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38144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sequence - element defs - integration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17336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/ artifact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5352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- decisions - implementation - ops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924544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study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52560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RQs - design - analysis - ethics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" y="2761488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2: research phase = the evaluation contract - changes what you may claim (overclaims get flagged)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experiment - feasibility only; no effectiveness claims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310128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38144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38144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system + qualitative eval; no statistical generalization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17336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45352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45352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/ statistical eval + ablation - effectiveness OK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924544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0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application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052560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eval + expert involvement - real-world utility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242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3: venue - changes the rigor required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459028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Domestic workshop  -  international conference  -  top conference / journal  -  EJC / IOS Press (Kiyoki lineage)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50200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020056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x venue derives the required experiment set, metrics, sample sizes and ethics statements (handled by evaluation-planner).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43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selection rules and the A/B protocol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00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 selection rules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Default is IMRAD (paper-blueprint-designer)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5-chapter hako is for Type A/B x EJC / IOS Press only (paper-composer + composition-checker)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Types C &amp; D always use IMRAD. Never mix skeletons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protocol (from the fill-in editor)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956816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Centered on a system / conceptual model / components - A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Centered on procedures / steps / input-compute-output - B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inferred type up front ('Adopted version: A')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once only if genuinely torn. Never add structure the boxes lack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11155680" cy="1463040"/>
          </a:xfrm>
          <a:prstGeom prst="roundRect">
            <a:avLst>
              <a:gd name="adj" fmla="val 5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06908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slot matrix is a shared vocabulary across skeletons.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= T (Title/Abstract) - I - R (Related Work) - M (swapped by type) - E (rigor swapped by phase x venue) - D - C - REF. Hako = HA (Abstract 1-6) - H1-H5 - H-REF + cross-chapter checks H-X01-18. write generates, review inspects - two faces of the same machine.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43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paper-compiler v2 - the write / review / audit modes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Absorbs the former paper-review-imrad, unifying writing, revision and pre-submission auditing in one skill. Routing is automatic, by input and trigger.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22376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22376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only / 'turn this into a paper'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22376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- slot mapping - full draft generation + gap detection. Writes in the skeleton's house style (7 sentences, hako phrases).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88536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07992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07992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 loop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07992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vX / 'what is missing?'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07992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via the slot matrix - flags + fulfillment questions - answers - recompile - vX+1. Updates the review history in the DOCX.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74152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93608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93608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One-shot gate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93608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8403336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draft / 'pre-submission check'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93608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18-item pass/fail gate (paper-auditor). Self-contained. 3+ misses or a HIGH flag - proposes moving to review.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636008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745736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(unified -er agent naming): 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paper-blueprint-designer (IMRAD blueprint + 7 sentences) / paper-composer (hako original) / paper-composition-checker (H-X consistency + A/B) / paper-auditor (18 items) / evaluation-planner (type x phase x venue)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43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write / review loop - clear the flags, finish the paper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1792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ideas, minutes, transcripts, notes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615184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79776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table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898648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Item-to-slot mapping shown up front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892040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56632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+ detect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75504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text generated; missing / partial flags + fulfillment questions attached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168896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33488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&amp; add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52360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questions (minimal writing effort)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445752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10344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29216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Recompile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883664"/>
            <a:ext cx="1901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vX+1; 4-item entry appended to review history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2788920"/>
            <a:ext cx="11155680" cy="457200"/>
          </a:xfrm>
          <a:prstGeom prst="roundRect">
            <a:avLst>
              <a:gd name="adj" fmla="val 14000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788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Convergence: 0 misses and 0 HIGH partials - 'submittable version' - delete initial questions &amp; history, pour into the venue template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9DB"/>
          </a:solidFill>
          <a:ln w="12700">
            <a:solidFill>
              <a:srgbClr val="E8D9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Unfilled slots = yellow highlight (new in v2)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Blanks that cannot be filled get yellow text highlighting in the DOCX, with the fulfillment question anchored as a comment - you see at a glance what remains.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Cleared when filled. The submission version must contain zero yellow (= leak detector). The old color-coded HTML output is retired.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7220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principles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bare flags: every miss / partial comes with a fulfillment question or a draft suggestion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praise: what is done well is explicitly named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fabrication: results, numbers and citations are never invented unless supplied by the user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43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- the paper's full history in one 4-part file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04088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question sheet (Q1-Q12)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04088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title, type, phase, venue, skeleton, language, method name, core claim, authors, deadline, materials, version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154680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20440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&amp; updated by literature-reviewer: bibliography + plain summary + full-text URL (unverified sources flagged)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71032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35624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36792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history table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36792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version: praise / miss &amp; partial counts (vs. prior) / HIGH flags / key questions. Newest on top.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787384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51976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53144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53144" y="1883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draft area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153144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&amp; extended via the skeleton slots; unfilled = flags + yellow highlight + comments.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886200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{YYYYMMDD}_#{VENUE}_{SHORT_TITLE}_@{FIRST_AUTHOR}_{LANG}_vX.docx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69087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Each revision bumps vX and refreshes the date (e.g. 20260706_#EJC2027_TimeAxisSynth_@Takahashi_JA_v0.docx)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Parts 1-3 persist until submission; the submission version transfers verified references into References, deletes part 2, and sweeps parts 1 &amp; 3 plus all yellow highlights (flagged sources are never transferred)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43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literature-reviewer - survey, plain summaries, URL verification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list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each work exists via web search and fixes the bibliography (authors, year, title, venue). Targets the 70% post-2020 mix and reports the ratio.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28616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summaries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07992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lines per work, understandable by a junior-high student: what, how, and what was found - jargon rephrased (no verbatim copying of abstracts).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74152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714232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full-text URLs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93608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in order DOI - publisher - PubMed/PMC - arXiv (labeled preprint), with actual reachability checked. Unverifiable = flagged 'source unknown, needs checking' + how to check.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from paper-compiler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/ updates part 2 (Literature Review) between the initial question sheet and the review history in paper_template, on its own page. Also proposed when audit items 08-11 raise flags.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from research-proposer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Placed last in the proposal, on a new page after '6. FAQ'. Overwritten on each revision; versioning follows the host document's vX. Also runs standalone: 'build me a reference list'.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534924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0E2A4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fabrication (paramount):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generate unverified works, DOIs or URLs. If it cannot be confirmed, flag it. Flagged sources are never transferred into the paper's References until resolved.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Division of labor: the survey / playbook at project start (top researchers, topic map, world-line, candidate list) belongs to literature-researcher, which hands its candidates to this skill.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43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- the 18-item pre-submission gate (paper-auditor)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Structure &amp; prep (01-04)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7512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Confirm it is an original research article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IMRAD / ILMRAD choice checked against the venue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Chapter name for M (Methods / Materials and Methods)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Title: information density &amp; search keywords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319272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3864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Abstract (05-07)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83864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Traces of a Working Abstract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Final rewritten after the body was done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Abstract + figures alone convey the skeleton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35624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0216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References (08-11)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00216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Overflow moved to Supplementary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~70% post-2020 (N/A for hako)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arXiv labeled preprint (AI/ML OK)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Citation style matches the venue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951976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6568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Chapter roles (12-17)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16568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I: gap &amp; contributions explicit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L: organized by issue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M: reproducible level of detail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R: no interpretation mixed in (hako N/A)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D: comparison, limitations, implications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Conclusion placement chosen deliberately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4645152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548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Closed-world logic (item 18; 7 sentences / Uraki; new in v2): 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Abstract and early Introduction, can the opening four sentences be read in order - humans do X / not yet realized in systems / key challenge / we propose? Has the world-view stayed contained? Out-of-order or partial = partial flag (with an insertion suggestion).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5742432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Verdicts: pass / fail / needs-check / N/A (evidence quotes required).  Overall: pass / revise / major revision  -  3+ fails or a HIGH flag triggers a proposal to move to review.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/ 43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 -  WRITING THE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proposals go Word-native - comment &amp; tracked-change rules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of words / sentences - tracked changes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2237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Insertions and deletions recorded as tracked changes, so the user can accept / reject in Word.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Reasons, questions, alternatives - comments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39165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the exact text. Location-specific fulfillment questions go in both the gap report and the comment.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for missing slots: placeholder + flag + yellow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2237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a placeholder where the slot belongs and anchor the fulfillment question there as a comment.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annotations are forbidden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165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write notes like [comment: ...] in the body. The history table holds summaries only (no double bookkeeping).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Author-name rule: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 of every comment and tracked change is always Yusuke Takahashi (never "Claude" or "paper-compiler"). Validate with validate.py --original before output (mandatory when tracked changes are present).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/ 43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&amp; Routing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self-contained: this one guide + 5 skills (starter / proposer / compiler v2 / literature-researcher / reviewer)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the legacy research-project-plan and paper-review-imrad (JA/EN) - their triggers collide with the new skills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E4E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 doubt, use the situation-to-skill flowchart. The v0 relay (starter - proposer - compiler) links the whole pipeline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CONTENTS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catalog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flowchart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/ 43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 -  RESOURCES &amp; ROUTING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catalog - self-contained with this guide + 5 skills</a:t>
            </a:r>
            <a:endParaRPr lang="en-US" sz="25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301752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to 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guide [Learning Edition]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 the 6 phases, format choice and paper writing in one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Fully absorbs Research Start Guide v9 and Paper Structure v8 (self-contained)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research-starter + research_start_template v0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+ Tpl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Coaching &amp; progress tracking for first steps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Starts without v0, from conversation. Mechanizes the phase order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research-proposer + proposal_template v0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+ Tpl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Launching projects &amp; collaborations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Replaces research-project-plan (delete the old one)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paper-compiler v2 + paper_template v0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+ Tpl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of writing, revision and pre-submission audit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write/review/audit; absorbs paper-review-imrad (delete the old ones)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references (built into compiler v2, -er names)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built-in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blueprint-designer / composer / composition-checker / auditor / evaluation-planner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Includes the Uraki method (7 sentences, hako template)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literature-researcher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project-start playbook (survey side)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from starter Phase 04: top researchers, topic map, world-line, candidates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literature-reviewer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Verification, plain summaries, URL checks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 over from researcher; called by compiler &amp; proposer. Unverified = flagged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760720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Legend: Doc (read) / Skill (upload one .skill file) / Template (copy &amp; fill)  -  </a:t>
            </a:r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 = initial template  -  Get them: https://github.com/aix-sc/research-lifecycle-guide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note: delete the legacy research-project-plan and paper-review-imrad (JA/EN) before registering the new skills - the triggers collide.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/ 43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 -  RESOURCES &amp; ROUTING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 doubt - the decision flowchart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984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about to start doing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28032" y="129844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0368" y="129844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76672" y="12984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research-starter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595360" y="129844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from conversation - coaches the 6 phases - ResearchStart DOCX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5681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launching a project / collaboration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28032" y="195681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30368" y="195681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76672" y="195681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research-proposer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595360" y="195681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'research proposal' - Proposal DOCX (to kickoff-ready)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2615184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61518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to choose / learn the writing format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8032" y="26151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30368" y="2615184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0F6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26151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guide, Parts 3-4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95360" y="26151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IMRAD, 7 sentences, hako and the 3 axes, all in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73552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27355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to draft / revise a paper from notes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327355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30368" y="3273552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76672" y="32735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(write/review)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0" y="327355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paper_template v0 - loop until the highlighted flags are gone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3931920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93192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a final pre-submission check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28032" y="39319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230368" y="3931920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76672" y="3931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(audit)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595360" y="39319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'pre-submission check' - 18-item gate - submit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459028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5902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the top researchers &amp; a playbook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28032" y="45902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230368" y="459028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6672" y="45902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literature-researcher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595360" y="459028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Survey: researcher list, topic map, world-line, candidates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02920" y="524865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24865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 references verified with URLs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828032" y="524865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230368" y="524865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6672" y="52486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literature-reviewer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595360" y="524865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bibliography + plain summary + URL; unverified flagged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02920" y="5980176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0E2A47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98017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v0 relay: starter - proposer - compiler v2, with researcher (survey) - reviewer (verification) supporting every stage. file-naming-convention applies; JA/EN share version numbers.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Lifecycle Guide [Learning Edition] | v7 / 2026-07-09 / EN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/ 43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forms - focus on the research itself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9164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691640" y="16916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Steps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14800" y="1691640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- question &amp; hypothesis - branding - references - venues - writing skills. research-starter coaches you.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" y="2478024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78024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24780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Start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0" y="2478024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plan with research-proposer; fix 'who, what, when' first.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3264408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264408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Format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0" y="3264408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IMRAD is the default. Build the abstract as a closed world with the 7 sentences. Hako is for Type A/B x EJC only.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050792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50792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05079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Paper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14800" y="405079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paper_template - compiler v2 (write/review), clearing every flag. References handled by researcher / reviewer.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4837176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37176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4837176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Pre-submission Audit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14800" y="4837176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v2 (audit): the 18-item gate. Submit when everything passes.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5696712"/>
            <a:ext cx="10698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Skills: https://github.com/aix-sc/research-lifecycle-guide  (upload the .skill files in dist/ via Settings &gt; Skills)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6044184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Acknowledgment: Prof. Souichi Oka (Musashino Univ., DS) - feedback &amp; advice  /  Assoc. Prof. Asako Uraki (same) - 7-sentence abstract, hako template A/B, fill-in editor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1520" y="635508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AIx{} Project, Uraki-Takahashi Laboratory (Musashino University, Faculty of Data Science)  |  Research Lifecycle Guide [Learning Edition]  v7 / 2026-07-09 / EN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Lifecycle Guide [Learning Edition] v7 EN</dc:title>
  <dc:subject>PptxGenJS Presentation</dc:subject>
  <dc:creator>Musashino University Faculty of Data Science</dc:creator>
  <cp:lastModifiedBy>Musashino University Faculty of Data Science</cp:lastModifiedBy>
  <cp:revision>1</cp:revision>
  <dcterms:created xsi:type="dcterms:W3CDTF">2026-07-09T20:08:46Z</dcterms:created>
  <dcterms:modified xsi:type="dcterms:W3CDTF">2026-07-09T20:08:46Z</dcterms:modified>
</cp:coreProperties>
</file>