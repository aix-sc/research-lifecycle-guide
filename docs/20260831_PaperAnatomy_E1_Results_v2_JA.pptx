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2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3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4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5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6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7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F2A37"/>
                </a:solidFill>
                <a:latin typeface="Yu Gothic"/>
              </a:defRPr>
            </a:pPr>
            <a:r>
              <a:rPr sz="1200" b="0" i="0" u="none" strike="noStrike">
                <a:solidFill>
                  <a:srgbClr val="1F2A37"/>
                </a:solidFill>
                <a:latin typeface="Yu Gothic"/>
              </a:rPr>
              <a:t>参考文献の本数（中央値）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参考文献の本数（中央値）</c:v>
                </c:pt>
              </c:strCache>
            </c:strRef>
          </c:tx>
          <c:spPr>
            <a:solidFill>
              <a:srgbClr val="E09F3E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F2A37"/>
                    </a:solidFill>
                    <a:latin typeface="Yu Gothic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よく引用される論文</c:v>
                  </c:pt>
                  <c:pt idx="1">
                    <c:v>あまり引用されない論文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45.5</c:v>
                </c:pt>
                <c:pt idx="1">
                  <c:v>37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100" u="none">
                  <a:solidFill>
                    <a:srgbClr val="1F2A37"/>
                  </a:solidFill>
                  <a:latin typeface="Yu Gothic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F2A37"/>
                </a:solidFill>
                <a:latin typeface="Yu Gothic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3E7EB"/>
              </a:solidFill>
              <a:prstDash val="solid"/>
              <a:round/>
            </a:ln>
          </c:spPr>
        </c:majorGridlines>
        <c:numFmt formatCode="0.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B6772"/>
                </a:solidFill>
                <a:latin typeface="Yu Gothic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F2A37"/>
                </a:solidFill>
                <a:latin typeface="Yu Gothic"/>
              </a:defRPr>
            </a:pPr>
            <a:r>
              <a:rPr sz="1200" b="0" i="0" u="none" strike="noStrike">
                <a:solidFill>
                  <a:srgbClr val="1F2A37"/>
                </a:solidFill>
                <a:latin typeface="Yu Gothic"/>
              </a:rPr>
              <a:t>参考文献のうち 5 年以内の割合（中央値）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参考文献のうち 5 年以内の割合（中央値）</c:v>
                </c:pt>
              </c:strCache>
            </c:strRef>
          </c:tx>
          <c:spPr>
            <a:solidFill>
              <a:srgbClr val="E09F3E"/>
            </a:solidFill>
            <a:effectLst/>
          </c:spPr>
          <c:invertIfNegative val="0"/>
          <c:dLbls>
            <c:numFmt formatCode="0%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F2A37"/>
                    </a:solidFill>
                    <a:latin typeface="Yu Gothic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よく引用される論文</c:v>
                  </c:pt>
                  <c:pt idx="1">
                    <c:v>あまり引用されない論文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0.571</c:v>
                </c:pt>
                <c:pt idx="1">
                  <c:v>0.468</c:v>
                </c:pt>
              </c:numCache>
            </c:numRef>
          </c:val>
        </c:ser>
        <c:dLbls>
          <c:numFmt formatCode="0%" sourceLinked="0"/>
          <c:txPr>
            <a:bodyPr/>
            <a:lstStyle/>
            <a:p>
              <a:pPr>
                <a:defRPr b="0" i="0" strike="noStrike" sz="1100" u="none">
                  <a:solidFill>
                    <a:srgbClr val="1F2A37"/>
                  </a:solidFill>
                  <a:latin typeface="Yu Gothic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F2A37"/>
                </a:solidFill>
                <a:latin typeface="Yu Gothic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3E7EB"/>
              </a:solidFill>
              <a:prstDash val="solid"/>
              <a:round/>
            </a:ln>
          </c:spPr>
        </c:majorGridlines>
        <c:numFmt formatCode="0%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B6772"/>
                </a:solidFill>
                <a:latin typeface="Yu Gothic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F2A37"/>
                </a:solidFill>
                <a:latin typeface="Yu Gothic"/>
              </a:defRPr>
            </a:pPr>
            <a:r>
              <a:rPr sz="1200" b="0" i="0" u="none" strike="noStrike">
                <a:solidFill>
                  <a:srgbClr val="1F2A37"/>
                </a:solidFill>
                <a:latin typeface="Yu Gothic"/>
              </a:rPr>
              <a:t>引用した論文の被引用数（中央値）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引用した論文の被引用数（中央値）</c:v>
                </c:pt>
              </c:strCache>
            </c:strRef>
          </c:tx>
          <c:spPr>
            <a:solidFill>
              <a:srgbClr val="E09F3E"/>
            </a:solidFill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F2A37"/>
                    </a:solidFill>
                    <a:latin typeface="Yu Gothic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よく引用される論文</c:v>
                  </c:pt>
                  <c:pt idx="1">
                    <c:v>あまり引用されない論文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208</c:v>
                </c:pt>
                <c:pt idx="1">
                  <c:v>146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b="0" i="0" strike="noStrike" sz="1100" u="none">
                  <a:solidFill>
                    <a:srgbClr val="1F2A37"/>
                  </a:solidFill>
                  <a:latin typeface="Yu Gothic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F2A37"/>
                </a:solidFill>
                <a:latin typeface="Yu Gothic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3E7EB"/>
              </a:solidFill>
              <a:prstDash val="solid"/>
              <a:round/>
            </a:ln>
          </c:spPr>
        </c:majorGridlines>
        <c:numFmt formatCode="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B6772"/>
                </a:solidFill>
                <a:latin typeface="Yu Gothic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F2A37"/>
                </a:solidFill>
                <a:latin typeface="Yu Gothic"/>
              </a:defRPr>
            </a:pPr>
            <a:r>
              <a:rPr sz="1200" b="0" i="0" u="none" strike="noStrike">
                <a:solidFill>
                  <a:srgbClr val="1F2A37"/>
                </a:solidFill>
                <a:latin typeface="Yu Gothic"/>
              </a:rPr>
              <a:t>題名の語数（中央値）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題名の語数（中央値）</c:v>
                </c:pt>
              </c:strCache>
            </c:strRef>
          </c:tx>
          <c:spPr>
            <a:solidFill>
              <a:srgbClr val="8A97A6"/>
            </a:solidFill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F2A37"/>
                    </a:solidFill>
                    <a:latin typeface="Yu Gothic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よく引用</c:v>
                  </c:pt>
                  <c:pt idx="1">
                    <c:v>あまり引用されない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8</c:v>
                </c:pt>
                <c:pt idx="1">
                  <c:v>8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b="0" i="0" strike="noStrike" sz="1100" u="none">
                  <a:solidFill>
                    <a:srgbClr val="1F2A37"/>
                  </a:solidFill>
                  <a:latin typeface="Yu Gothic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F2A37"/>
                </a:solidFill>
                <a:latin typeface="Yu Gothic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3E7EB"/>
              </a:solidFill>
              <a:prstDash val="solid"/>
              <a:round/>
            </a:ln>
          </c:spPr>
        </c:majorGridlines>
        <c:numFmt formatCode="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B6772"/>
                </a:solidFill>
                <a:latin typeface="Yu Gothic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F2A37"/>
                </a:solidFill>
                <a:latin typeface="Yu Gothic"/>
              </a:defRPr>
            </a:pPr>
            <a:r>
              <a:rPr sz="1200" b="0" i="0" u="none" strike="noStrike">
                <a:solidFill>
                  <a:srgbClr val="1F2A37"/>
                </a:solidFill>
                <a:latin typeface="Yu Gothic"/>
              </a:rPr>
              <a:t>要旨の読みやすさ（Flesch、高いほど平易）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要旨の読みやすさ（Flesch、高いほど平易）</c:v>
                </c:pt>
              </c:strCache>
            </c:strRef>
          </c:tx>
          <c:spPr>
            <a:solidFill>
              <a:srgbClr val="8A97A6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F2A37"/>
                    </a:solidFill>
                    <a:latin typeface="Yu Gothic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よく引用</c:v>
                  </c:pt>
                  <c:pt idx="1">
                    <c:v>あまり引用されない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23.2</c:v>
                </c:pt>
                <c:pt idx="1">
                  <c:v>23.3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100" u="none">
                  <a:solidFill>
                    <a:srgbClr val="1F2A37"/>
                  </a:solidFill>
                  <a:latin typeface="Yu Gothic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F2A37"/>
                </a:solidFill>
                <a:latin typeface="Yu Gothic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3E7EB"/>
              </a:solidFill>
              <a:prstDash val="solid"/>
              <a:round/>
            </a:ln>
          </c:spPr>
        </c:majorGridlines>
        <c:numFmt formatCode="0.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B6772"/>
                </a:solidFill>
                <a:latin typeface="Yu Gothic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よく引用される論文の筆頭著者</c:v>
                </c:pt>
              </c:strCache>
            </c:strRef>
          </c:tx>
          <c:spPr>
            <a:solidFill>
              <a:srgbClr val="E09F3E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F2A37"/>
                    </a:solidFill>
                    <a:latin typeface="Yu Gothic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投稿先の多様さ</c:v>
                  </c:pt>
                  <c:pt idx="1">
                    <c:v>同じ雑誌に出す率</c:v>
                  </c:pt>
                  <c:pt idx="2">
                    <c:v>preprint 併用率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0.833</c:v>
                </c:pt>
                <c:pt idx="1">
                  <c:v>0.242</c:v>
                </c:pt>
                <c:pt idx="2">
                  <c:v>0.325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あまり引用されない論文の筆頭著者</c:v>
                </c:pt>
              </c:strCache>
            </c:strRef>
          </c:tx>
          <c:spPr>
            <a:solidFill>
              <a:srgbClr val="8A97A6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F2A37"/>
                    </a:solidFill>
                    <a:latin typeface="Yu Gothic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投稿先の多様さ</c:v>
                  </c:pt>
                  <c:pt idx="1">
                    <c:v>同じ雑誌に出す率</c:v>
                  </c:pt>
                  <c:pt idx="2">
                    <c:v>preprint 併用率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0.833</c:v>
                </c:pt>
                <c:pt idx="1">
                  <c:v>0.25</c:v>
                </c:pt>
                <c:pt idx="2">
                  <c:v>0.333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100" u="none">
                  <a:solidFill>
                    <a:srgbClr val="1F2A37"/>
                  </a:solidFill>
                  <a:latin typeface="Yu Gothic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F2A37"/>
                </a:solidFill>
                <a:latin typeface="Yu Gothic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.1"/>
        </c:scaling>
        <c:delete val="0"/>
        <c:axPos val="l"/>
        <c:majorGridlines>
          <c:spPr>
            <a:ln w="6350" cap="flat">
              <a:solidFill>
                <a:srgbClr val="E3E7EB"/>
              </a:solidFill>
              <a:prstDash val="solid"/>
              <a:round/>
            </a:ln>
          </c:spPr>
        </c:majorGridlines>
        <c:numFmt formatCode="0.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B6772"/>
                </a:solidFill>
                <a:latin typeface="Yu Gothic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latin typeface="Yu Gothic"/>
              <a:cs typeface="Yu Gothic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AI 特有語（delve, intricate, pivotal, showcase…）を含む要旨の割合</c:v>
                </c:pt>
              </c:strCache>
            </c:strRef>
          </c:tx>
          <c:spPr>
            <a:solidFill>
              <a:srgbClr val="B54A3C"/>
            </a:solidFill>
            <a:ln w="38100" cap="flat">
              <a:solidFill>
                <a:srgbClr val="B54A3C"/>
              </a:solidFill>
              <a:prstDash val="solid"/>
              <a:round/>
            </a:ln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F2A37"/>
                    </a:solidFill>
                    <a:latin typeface="Yu Gothic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8"/>
            <c:spPr>
              <a:solidFill>
                <a:srgbClr val="B54A3C"/>
              </a:solidFill>
              <a:ln w="9525" cap="flat">
                <a:solidFill>
                  <a:srgbClr val="B54A3C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2018</c:v>
                  </c:pt>
                  <c:pt idx="1">
                    <c:v>2019</c:v>
                  </c:pt>
                  <c:pt idx="2">
                    <c:v>2020</c:v>
                  </c:pt>
                  <c:pt idx="3">
                    <c:v>2021</c:v>
                  </c:pt>
                  <c:pt idx="4">
                    <c:v>2022</c:v>
                  </c:pt>
                  <c:pt idx="5">
                    <c:v>2023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4.1</c:v>
                </c:pt>
                <c:pt idx="1">
                  <c:v>5.7</c:v>
                </c:pt>
                <c:pt idx="2">
                  <c:v>1.7</c:v>
                </c:pt>
                <c:pt idx="3">
                  <c:v>3.3</c:v>
                </c:pt>
                <c:pt idx="4">
                  <c:v>3.6</c:v>
                </c:pt>
                <c:pt idx="5">
                  <c:v>6.8</c:v>
                </c:pt>
              </c:numCache>
            </c:numRef>
          </c:val>
          <c:smooth val="0"/>
        </c:ser>
        <c:dLbls>
          <c:numFmt formatCode="0.0&quot;%&quot;" sourceLinked="0"/>
          <c:txPr>
            <a:bodyPr/>
            <a:lstStyle/>
            <a:p>
              <a:pPr>
                <a:defRPr b="0" i="0" strike="noStrike" sz="1100" u="none">
                  <a:solidFill>
                    <a:srgbClr val="1F2A37"/>
                  </a:solidFill>
                  <a:latin typeface="Yu Gothic"/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F2A37"/>
                </a:solidFill>
                <a:latin typeface="Yu Gothic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9"/>
          <c:min val="0"/>
        </c:scaling>
        <c:delete val="0"/>
        <c:axPos val="l"/>
        <c:majorGridlines>
          <c:spPr>
            <a:ln w="6350" cap="flat">
              <a:solidFill>
                <a:srgbClr val="E3E7EB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B6772"/>
                </a:solidFill>
                <a:latin typeface="Yu Gothic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latin typeface="Yu Gothic"/>
              <a:cs typeface="Yu Gothic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7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2A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00584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評価の高い論文の書き方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82880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CADCF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データが教える「本当」と「都市伝説」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51460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トップ誌に載った 2,814 本（TKDE・PVLDB・DMKD 2018–2023）を「よく引用された論文」と「あまり引用されない論文」に分けて比べ、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数百万本規模の先行研究と突き合わせて、真似すべきルールと真似しなくていい通説を整理した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402336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5B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高橋雄介・浦木麻子（武蔵野大学 データサイエンス学部 / Asia AI Institute / AIx, Inc.）｜研究室内共有・岡宗一先生／武藤佳恭先生へのフィードバック依頼用｜v2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67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調べ方（1枚で）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F2A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何をしたか：「同じ雑誌に載った論文」の中で、引用される論文とされない論文を比べた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97A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評価の高い論文の書き方 — データが教える「本当」と「都市伝説」｜AIx{} 浦木・高橋研究室｜2026-08-31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3931920" cy="3200400"/>
          </a:xfrm>
          <a:prstGeom prst="roundRect">
            <a:avLst>
              <a:gd name="adj" fmla="val 2286"/>
            </a:avLst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21792" y="1435608"/>
            <a:ext cx="36027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4C5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やったこと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621792" y="1828800"/>
            <a:ext cx="3602736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① 分野トップ誌 3 つ（TKDE・PVLDB・DMKD）の 2018〜2023 年の論文 2,814 本を OpenAlex から自動取得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② 同じ雑誌・同じ年の中で、引用数の上位 10%（よく引用された論文）と下位 25%（あまり引用されない論文）に分ける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③ 題名・要旨・参考文献・著者の投稿歴・AI 執筆の痕跡を機械的に数えて、2 つのグループで違うかを調べる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④ 数百万本規模の先行研究の結論と突き合わせる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617720" y="1325880"/>
            <a:ext cx="4069080" cy="3200400"/>
          </a:xfrm>
          <a:prstGeom prst="roundRect">
            <a:avLst>
              <a:gd name="adj" fmla="val 2286"/>
            </a:avLst>
          </a:prstGeom>
          <a:solidFill>
            <a:srgbClr val="FFF4E3"/>
          </a:solidFill>
          <a:ln w="12700">
            <a:solidFill>
              <a:srgbClr val="FFF4E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782312" y="1435608"/>
            <a:ext cx="37398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09F3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なぜ「同じ雑誌の中」で比べるのか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4782312" y="1828800"/>
            <a:ext cx="3739896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「トップ誌に通る力」と「通った後に引用される力」は別物。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先行研究の多くは雑誌をまたいで比べているので、雑誌の格の違いが結果に混ざる。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今回は雑誌と年を固定して比べたので、「トップ誌に載った上で、さらに引用される論文は何が違うか」だけを取り出せる。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注意：分かるのは「関係」であって「原因」ではない。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67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結論（先に全部）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F2A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結論：従うべきルール 4 つ、真似しなくていい通説 6 つ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97A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評価の高い論文の書き方 — データが教える「本当」と「都市伝説」｜AIx{} 浦木・高橋研究室｜2026-08-31</a:t>
            </a:r>
            <a:endParaRPr lang="en-US" sz="8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25880"/>
          <a:ext cx="8229600" cy="914400"/>
        </p:xfrm>
        <a:graphic>
          <a:graphicData uri="http://schemas.openxmlformats.org/drawingml/2006/table">
            <a:tbl>
              <a:tblPr/>
              <a:tblGrid>
                <a:gridCol w="4114800"/>
                <a:gridCol w="4114800"/>
              </a:tblGrid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◎ 従うべきルール（データで支持）</a:t>
                      </a:r>
                      <a:endParaRPr lang="en-US" sz="11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D5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✗ 都市伝説（同じ雑誌の中では効かない・または逆）</a:t>
                      </a:r>
                      <a:endParaRPr lang="en-US" sz="11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54A3C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1. 参考文献はケチらない（上位 45 本 vs 下位 37 本）</a:t>
                      </a:r>
                      <a:endParaRPr lang="en-US" sz="11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A. 「短い題名ほど引用される」→ 同じ雑誌内では差ゼロ（8 語＝8 語）</a:t>
                      </a:r>
                      <a:endParaRPr lang="en-US" sz="11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2. 新しい文献を引く（5 年以内が 57% vs 47%）</a:t>
                      </a:r>
                      <a:endParaRPr lang="en-US" sz="11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B. 「疑問形・コロン付きの題名が有利」→ 分野で逆転、雑誌内では差なし</a:t>
                      </a:r>
                      <a:endParaRPr lang="en-US" sz="11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3. 引用先は「よく引用されている論文」を選ぶ（208 vs 146）</a:t>
                      </a:r>
                      <a:endParaRPr lang="en-US" sz="11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C. 「読みやすい要旨ほど引用される」→ 先行研究では逆。雑誌内では差なし</a:t>
                      </a:r>
                      <a:endParaRPr lang="en-US" sz="11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4. 直近 2 年の文献を必ず入れ、古典は削らない（先行研究）</a:t>
                      </a:r>
                      <a:endParaRPr lang="en-US" sz="11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D. 「要旨は短く簡潔に」→ 長め（規定の 85–100%）が有利</a:t>
                      </a:r>
                      <a:endParaRPr lang="en-US" sz="11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（参考）共著者が多い論文は引用されやすい（5 人 vs 4 人）</a:t>
                      </a:r>
                      <a:endParaRPr lang="en-US" sz="11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E. 「有名誌に通い続ける著者の論文が引用される」→ 投稿歴は無関係</a:t>
                      </a:r>
                      <a:endParaRPr lang="en-US" sz="11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F. 「AI で書くと引用されない／される」→ 差なし。ただし AI 特有語は避ける</a:t>
                      </a:r>
                      <a:endParaRPr lang="en-US" sz="11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7D5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ルール 1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F2A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参考文献はケチらない — 引用される論文は 8 本多く引いている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97A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評価の高い論文の書き方 — データが教える「本当」と「都市伝説」｜AIx{} 浦木・高橋研究室｜2026-08-31</a:t>
            </a:r>
            <a:endParaRPr lang="en-US" sz="8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457200" y="1280160"/>
          <a:ext cx="3840480" cy="2926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4572000" y="1280160"/>
            <a:ext cx="4114800" cy="2926080"/>
          </a:xfrm>
          <a:prstGeom prst="roundRect">
            <a:avLst>
              <a:gd name="adj" fmla="val 250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4736592" y="1389888"/>
            <a:ext cx="37856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7D5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どう使うか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4736592" y="1783080"/>
            <a:ext cx="3785616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・投稿先の「よく引用される論文」の本数を目安にする（TKDE 系なら 45 本前後）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・少ないと「調べていない」というシグナルになる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・水増しではなく、関連研究を本当に読んで比較する（下のルール 3 と組み合わせる）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効果の大きさ：Cliff's δ＝0.31（上位論文 1 本と下位論文 1 本を比べたとき、上位の方が多い確率が約 65%）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43434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5B67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根拠：</a:t>
            </a:r>
            <a:pPr indent="0" marL="0">
              <a:buNone/>
            </a:pPr>
            <a:r>
              <a:rPr lang="en-US" sz="1000" dirty="0">
                <a:solidFill>
                  <a:srgbClr val="5B67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今回 2,814 本（p&lt;0.001）。先行研究：生態学 50,878 本（Scientometrics 2020）、Biscaro &amp; Giupponi 2014 ほか多数で「参照本数と被引用は正の相関」— 最も再現性の高い知見の一つ。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7D5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ルール 2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F2A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新しい文献を引く — 「5 年以内が 7 割」は上位論文でも高い目標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97A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評価の高い論文の書き方 — データが教える「本当」と「都市伝説」｜AIx{} 浦木・高橋研究室｜2026-08-31</a:t>
            </a:r>
            <a:endParaRPr lang="en-US" sz="8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457200" y="1280160"/>
          <a:ext cx="3840480" cy="2926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4572000" y="1280160"/>
            <a:ext cx="4114800" cy="2926080"/>
          </a:xfrm>
          <a:prstGeom prst="roundRect">
            <a:avLst>
              <a:gd name="adj" fmla="val 250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4736592" y="1389888"/>
            <a:ext cx="37856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7D5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どう使うか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4736592" y="1783080"/>
            <a:ext cx="3785616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・研究室の「7 割ルール」は方向として正しい。ただし上位論文の中央値でも 57% なので、7 割は「上位の中でも上位」の水準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・現実的な目標：6 割以上。7 割は理想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・参照が古いと「最近の議論を知らない」と読まれる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効果の大きさ：δ＝0.32（今回の分析で最大）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43434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5B67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根拠：</a:t>
            </a:r>
            <a:pPr indent="0" marL="0">
              <a:buNone/>
            </a:pPr>
            <a:r>
              <a:rPr lang="en-US" sz="1000" dirty="0">
                <a:solidFill>
                  <a:srgbClr val="5B67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今回 2,814 本（p&lt;0.001）。先行研究：5 年以内比率（Price 指数）が 0.72 以上の論文は、出版後に引用が増え始めるのが最も速い（総被引用の 10% 到達が 1.66 年 vs 1.95 年）。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7D5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ルール 3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F2A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引用先は「よく引用されている論文」を選ぶ — 引用先の質も見られている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97A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評価の高い論文の書き方 — データが教える「本当」と「都市伝説」｜AIx{} 浦木・高橋研究室｜2026-08-31</a:t>
            </a:r>
            <a:endParaRPr lang="en-US" sz="8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457200" y="1280160"/>
          <a:ext cx="3840480" cy="2926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4572000" y="1280160"/>
            <a:ext cx="4114800" cy="2926080"/>
          </a:xfrm>
          <a:prstGeom prst="roundRect">
            <a:avLst>
              <a:gd name="adj" fmla="val 250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4736592" y="1389888"/>
            <a:ext cx="37856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7D5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どう使うか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4736592" y="1783080"/>
            <a:ext cx="3785616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・同じテーマなら、その分野で広く読まれている論文を優先して引く（被引用が少ない論文だけを並べない）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・「その分野の主要な議論に接続している」ことが読者・査読者に伝わる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・Google Scholar や OpenAlex で被引用数を確認する習慣を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効果の大きさ：δ＝0.30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43434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5B67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根拠：</a:t>
            </a:r>
            <a:pPr indent="0" marL="0">
              <a:buNone/>
            </a:pPr>
            <a:r>
              <a:rPr lang="en-US" sz="1000" dirty="0">
                <a:solidFill>
                  <a:srgbClr val="5B67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今回 2,814 本（p&lt;0.001）。先行研究：生態学 50,878 本で「引用先のインパクト」が被引用と正相関。一方「古典論文の割合」は無関係（＝古典を削っても増えない、残しても損しない）。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7D5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ルール 4（＋参考）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F2A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直近 2 年を必ず入れ、古典は削らない。そして一人で書かない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97A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評価の高い論文の書き方 — データが教える「本当」と「都市伝説」｜AIx{} 浦木・高橋研究室｜2026-08-31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3977640" cy="3017520"/>
          </a:xfrm>
          <a:prstGeom prst="roundRect">
            <a:avLst>
              <a:gd name="adj" fmla="val 242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21792" y="1389888"/>
            <a:ext cx="36484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7D5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ルール 4：直近 2 年＋古典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621792" y="1783080"/>
            <a:ext cx="3648456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・直近 1〜2 年の文献を必ず含める（引用の「離陸」が速くなる）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・分野の創始文献・データの原典（古典）は削らない。古典の比率は被引用に影響しないので、削っても得はない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・arXiv は「preprint」と明記すれば引用してよい（AI/ML 分野の慣行）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＝「新しい 7 割＋権威ある古典＋データ原典」という研究室の構成が、データで裏付けられた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709160" y="1280160"/>
            <a:ext cx="3977640" cy="3017520"/>
          </a:xfrm>
          <a:prstGeom prst="roundRect">
            <a:avLst>
              <a:gd name="adj" fmla="val 2424"/>
            </a:avLst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873752" y="1389888"/>
            <a:ext cx="36484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4C5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参考：共著者が多い論文は引用されやすい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4873752" y="1783080"/>
            <a:ext cx="3648456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今回：上位 5 人 vs 下位 4 人（δ＝0.19）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先行研究でも一貫して「著者数・国際共著は被引用と正相関」。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ただし「人数を増やせば引用される」わけではなく、良い共同研究ほど人が集まる・読者が増える、という関係と考えるのが自然。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実践的には：一人で抱え込まず、指導教員・共同研究者を早い段階で巻き込む。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43891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5B67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根拠：</a:t>
            </a:r>
            <a:pPr indent="0" marL="0">
              <a:buNone/>
            </a:pPr>
            <a:r>
              <a:rPr lang="en-US" sz="1000" dirty="0">
                <a:solidFill>
                  <a:srgbClr val="5B67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先行研究：Price 指数 ≥0.72 群の被引用離陸が最速（arXiv 1906.04206）。古典比率は無関係（Scientometrics 2020）。著者数：Kousha &amp; Thelwall 2024 ARIST 総説ほか。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54A3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都市伝説 A・B：題名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F2A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「短い題名」「疑問形」「コロン付き」— 同じ雑誌の中では引用に関係ない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97A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評価の高い論文の書き方 — データが教える「本当」と「都市伝説」｜AIx{} 浦木・高橋研究室｜2026-08-31</a:t>
            </a:r>
            <a:endParaRPr lang="en-US" sz="8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457200" y="1280160"/>
          <a:ext cx="3017520" cy="2926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3657600" y="1280160"/>
            <a:ext cx="5029200" cy="2926080"/>
          </a:xfrm>
          <a:prstGeom prst="roundRect">
            <a:avLst>
              <a:gd name="adj" fmla="val 2500"/>
            </a:avLst>
          </a:prstGeom>
          <a:solidFill>
            <a:srgbClr val="FDECEA"/>
          </a:solidFill>
          <a:ln w="12700">
            <a:solidFill>
              <a:srgbClr val="FDECEA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3822192" y="1389888"/>
            <a:ext cx="47000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54A3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何が起きているか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3822192" y="1783080"/>
            <a:ext cx="4700016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・題名の長さ・コロン・疑問形・「〜 for X」「case study」などの限定表現：どれも 2 群で差なし（δ はすべて 0.1 未満）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・先行研究では「短い題名が有利」（高被引用誌）と「長い題名が有利」（一般誌）が雑誌の格で逆転する。つまり題名の効果は「どの雑誌に通るか」に効いていて、通った後の引用差には効かない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・疑問形は医学系で不利、CS 系で有利（+16%）と分野でも逆転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結論：題名は「雑誌に通るための入場券」。トップ誌狙いなら短く・一般形・コロン 2 部構成でよいが、引用を増やす魔法ではない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43434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5B67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根拠：</a:t>
            </a:r>
            <a:pPr indent="0" marL="0">
              <a:buNone/>
            </a:pPr>
            <a:r>
              <a:rPr lang="en-US" sz="1000" dirty="0">
                <a:solidFill>
                  <a:srgbClr val="5B67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今回：題名語数 δ＝−0.001、コロン 0.08、疑問形 0.01。先行研究：Letchford 2015（短い題名優位）、Sienkiewicz &amp; Altmann 2016（430 万本：雑誌の格で符号反転）、Fiala 2021（CS で疑問形 +16%）。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54A3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都市伝説 C・D：要旨（アブストラクト）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F2A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「読みやすい要旨」「短く簡潔な要旨」— どちらも引用を増やさない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97A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評価の高い論文の書き方 — データが教える「本当」と「都市伝説」｜AIx{} 浦木・高橋研究室｜2026-08-31</a:t>
            </a:r>
            <a:endParaRPr lang="en-US" sz="8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457200" y="1280160"/>
          <a:ext cx="3017520" cy="2926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3657600" y="1280160"/>
            <a:ext cx="5029200" cy="2926080"/>
          </a:xfrm>
          <a:prstGeom prst="roundRect">
            <a:avLst>
              <a:gd name="adj" fmla="val 2500"/>
            </a:avLst>
          </a:prstGeom>
          <a:solidFill>
            <a:srgbClr val="FDECEA"/>
          </a:solidFill>
          <a:ln w="12700">
            <a:solidFill>
              <a:srgbClr val="FDECEA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3822192" y="1389888"/>
            <a:ext cx="47000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54A3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何が起きているか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3822192" y="1783080"/>
            <a:ext cx="4700016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・読みやすさ・語数・「目的→方法→結果→結論」の要素の有無：2 群で差なし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・先行研究（数十万〜数百万本）ではむしろ「読みにくい（専門語が濃い）要旨ほど引用される」。専門性の代理指標であって、難しく書けば引用されるわけではない（わざと難読化するのは禁止）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・長さは「投稿規定の 85〜100% まで使い切る」方が有利。短く削ると要素（特に数値つきの結果）が落ちる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結論：要旨は「要素を全部入れて、数値で結果を書く」ことが下限。文は平易に、語彙は正確に。それ以上の細工は効かない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43434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5B67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根拠：</a:t>
            </a:r>
            <a:pPr indent="0" marL="0">
              <a:buNone/>
            </a:pPr>
            <a:r>
              <a:rPr lang="en-US" sz="1000" dirty="0">
                <a:solidFill>
                  <a:srgbClr val="5B67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今回：Flesch δ＝−0.001、語数 0.09、結果ムーブは両群ほぼ 100%。先行研究：Gazni 2011（26 万本）、Ante 2022（13.5 万本）、van Wesel 2014、Sienkiewicz &amp; Altmann 2016。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54A3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都市伝説 E：著者の投稿戦略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F2A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「有名誌に通い続ける著者」「多様な場に出す著者」— 投稿歴は引用差を説明しない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97A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評価の高い論文の書き方 — データが教える「本当」と「都市伝説」｜AIx{} 浦木・高橋研究室｜2026-08-31</a:t>
            </a:r>
            <a:endParaRPr lang="en-US" sz="8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457200" y="1280160"/>
          <a:ext cx="4206240" cy="2926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4846320" y="1280160"/>
            <a:ext cx="3840480" cy="2926080"/>
          </a:xfrm>
          <a:prstGeom prst="roundRect">
            <a:avLst>
              <a:gd name="adj" fmla="val 2500"/>
            </a:avLst>
          </a:prstGeom>
          <a:solidFill>
            <a:srgbClr val="FDECEA"/>
          </a:solidFill>
          <a:ln w="12700">
            <a:solidFill>
              <a:srgbClr val="FDECEA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010912" y="1389888"/>
            <a:ext cx="35112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54A3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何が起きているか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5010912" y="1783080"/>
            <a:ext cx="3511296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筆頭著者 300 名の過去 10 年を比べても、投稿先の数・同じ雑誌への集中・出した雑誌の格（h-index）・preprint の使い方・論文数、すべて同じ。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結論：「どこに出してきたか」より「その論文が何をどう引いているか」。投稿戦略は雑誌に通る段階の話で、通った後は論文単体で勝負している。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43434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5B67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根拠：</a:t>
            </a:r>
            <a:pPr indent="0" marL="0">
              <a:buNone/>
            </a:pPr>
            <a:r>
              <a:rPr lang="en-US" sz="1000" dirty="0">
                <a:solidFill>
                  <a:srgbClr val="5B67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今回：筆頭著者 150 名×2 群、全項目 δ&lt;0.09。注意：筆頭著者は学生が多い可能性があり、E2 で最終著者（指導教員）も比較する。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54A3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都市伝説 F：AI 執筆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F2A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「AI で書いた論文は引用されない（される）」— 差はない。ただし AI 特有語は避ける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97A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評価の高い論文の書き方 — データが教える「本当」と「都市伝説」｜AIx{} 浦木・高橋研究室｜2026-08-31</a:t>
            </a:r>
            <a:endParaRPr lang="en-US" sz="8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457200" y="1280160"/>
          <a:ext cx="4206240" cy="2926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4846320" y="1280160"/>
            <a:ext cx="3840480" cy="2926080"/>
          </a:xfrm>
          <a:prstGeom prst="roundRect">
            <a:avLst>
              <a:gd name="adj" fmla="val 2500"/>
            </a:avLst>
          </a:prstGeom>
          <a:solidFill>
            <a:srgbClr val="FDECEA"/>
          </a:solidFill>
          <a:ln w="12700">
            <a:solidFill>
              <a:srgbClr val="FDECEA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010912" y="1389888"/>
            <a:ext cx="35112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54A3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何が起きているか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5010912" y="1783080"/>
            <a:ext cx="3511296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・ChatGPT 公開（2022 年末）後の 2023 年、AI 特有の言い回しを含む要旨が約 2 倍（3.7%→6.8%）に。トップ誌でも AI 支援は始まっている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・ただし AI 的な文体の要旨が引用される／されないという差はない（2023 年の上位・下位で同じ）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・一方で、delve／intricate／pivotal／showcase／underscore／meticulous などは査読者・編集者に「AI の痕跡」として認識されつつある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結論：AI を使うこと自体は問題ではない。AI 特有語を残さず、自分の言葉に直す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43434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5B67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根拠：</a:t>
            </a:r>
            <a:pPr indent="0" marL="0">
              <a:buNone/>
            </a:pPr>
            <a:r>
              <a:rPr lang="en-US" sz="1000" dirty="0">
                <a:solidFill>
                  <a:srgbClr val="5B67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今回：2023 年の上位・下位で差なし（δ＝−0.03）。方法は Kobak ら（Science Advances 2025、PubMed 1,500 万本）。個別の論文を「AI 執筆」と判定はしない（判定器は非ネイティブ著者を誤検知する）。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67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全体像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F2A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整理：「雑誌に通る」要因と「通った後に引用される」要因は別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97A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評価の高い論文の書き方 — データが教える「本当」と「都市伝説」｜AIx{} 浦木・高橋研究室｜2026-08-31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3840480" cy="3108960"/>
          </a:xfrm>
          <a:prstGeom prst="roundRect">
            <a:avLst>
              <a:gd name="adj" fmla="val 2941"/>
            </a:avLst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1417320"/>
            <a:ext cx="347472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F4C5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入場券：雑誌に通るために整える
</a:t>
            </a:r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・題名：短く、一般形、コロン 2 部構成</a:t>
            </a:r>
            <a:endParaRPr lang="en-US" sz="1600" dirty="0"/>
          </a:p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・要旨：目的→方法→結果（数値）→結論を全部入れ、規定の上限近くまで使う</a:t>
            </a:r>
            <a:endParaRPr lang="en-US" sz="1600" dirty="0"/>
          </a:p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・章立て：その雑誌の慣行に合わせる（IMRAD か自由型か）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先行研究で「効く」とされた特徴はここに集中。今回、雑誌を固定したら消えたのは、この段階の効果だから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434840" y="2606040"/>
            <a:ext cx="457200" cy="548640"/>
          </a:xfrm>
          <a:prstGeom prst="rightArrow">
            <a:avLst/>
          </a:prstGeom>
          <a:solidFill>
            <a:srgbClr val="E09F3E"/>
          </a:solidFill>
          <a:ln w="12700">
            <a:solidFill>
              <a:srgbClr val="E09F3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0" y="1280160"/>
            <a:ext cx="3657600" cy="3108960"/>
          </a:xfrm>
          <a:prstGeom prst="roundRect">
            <a:avLst>
              <a:gd name="adj" fmla="val 2941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212080" y="1417320"/>
            <a:ext cx="32918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E7D5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加点：通った後に引用されるために
</a:t>
            </a:r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・参考文献の本数（その雑誌の上位論文の水準）</a:t>
            </a:r>
            <a:endParaRPr lang="en-US" sz="1600" dirty="0"/>
          </a:p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・5 年以内の文献 6 割以上（7 割が理想）</a:t>
            </a:r>
            <a:endParaRPr lang="en-US" sz="1600" dirty="0"/>
          </a:p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・よく引用されている文献を引く</a:t>
            </a:r>
            <a:endParaRPr lang="en-US" sz="1600" dirty="0"/>
          </a:p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・直近 2 年を入れ、古典は残す</a:t>
            </a:r>
            <a:endParaRPr lang="en-US" sz="1600" dirty="0"/>
          </a:p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・共同研究者を巻き込む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今回の分析で差が出たのはここだけ。指導の重心はここに置く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67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誰に学ぶか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F2A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参考にできる人と読むべきもの — この分野の「本物」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97A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評価の高い論文の書き方 — データが教える「本当」と「都市伝説」｜AIx{} 浦木・高橋研究室｜2026-08-31</a:t>
            </a:r>
            <a:endParaRPr lang="en-US" sz="8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822960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3291840"/>
                <a:gridCol w="219456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人・グループ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何を学べるか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まず読む 1 本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5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Mike Thelwall（Sheffield）／Kayvan Kousha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「何が引用されるか」の総説と、題名・要旨・可読性の実証。都市伝説の検証者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Kousha &amp; Thelwall (2024) ARIST review, JASIST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Ludo Waltman（Leiden, CWTS）／Lutz Bornmann（Max Planck）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引用指標の正しい使い方（パーセンタイル・分野正規化）。「同じもの同士を比べる」の原則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Waltman (2016) J. Informetrics 総説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Dashun Wang／Santo Fortunato／Barabási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引用の長期予測・引用のダイナミクス（Science of Science）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Fortunato et al. (2018) Science 'Science of science'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Dmitry Kobak（Tübingen）／Weixin Liang &amp; James Zou（Stanford）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AI 支援執筆の大規模検出。「AI 特有語」の実態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Kobak et al. (2025) Science Advances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参照リスト研究（生態学 50,878 本, Scientometrics 2020）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今回の結果と同じ結論を先に出した研究。ルール 1〜4 の直接の根拠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Scientometrics 2020, doi:10.1007/s11192-020-03759-0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457200" y="4434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7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研究室の運用：Thelwall・Waltman・Kobak・Wang を Google Scholar でフォローし、新着を虎の巻（別紙）に追記する。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67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実践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F2A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明日から使うチェックリスト — 投稿前に 8 項目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97A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評価の高い論文の書き方 — データが教える「本当」と「都市伝説」｜AIx{} 浦木・高橋研究室｜2026-08-31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457200" y="1353312"/>
            <a:ext cx="201168" cy="201168"/>
          </a:xfrm>
          <a:prstGeom prst="ellipse">
            <a:avLst/>
          </a:prstGeom>
          <a:solidFill>
            <a:srgbClr val="2E7D5B"/>
          </a:solidFill>
          <a:ln w="12700">
            <a:solidFill>
              <a:srgbClr val="2E7D5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128016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□ 参考文献は投稿先の上位論文の水準か（TKDE 系なら 45 本前後）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755648"/>
            <a:ext cx="201168" cy="201168"/>
          </a:xfrm>
          <a:prstGeom prst="ellipse">
            <a:avLst/>
          </a:prstGeom>
          <a:solidFill>
            <a:srgbClr val="2E7D5B"/>
          </a:solidFill>
          <a:ln w="12700">
            <a:solidFill>
              <a:srgbClr val="2E7D5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77240" y="1682496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□ 5 年以内の文献が 6 割以上あるか（7 割なら理想）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2157984"/>
            <a:ext cx="201168" cy="201168"/>
          </a:xfrm>
          <a:prstGeom prst="ellipse">
            <a:avLst/>
          </a:prstGeom>
          <a:solidFill>
            <a:srgbClr val="2E7D5B"/>
          </a:solidFill>
          <a:ln w="12700">
            <a:solidFill>
              <a:srgbClr val="2E7D5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77240" y="2084832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□ 引用先は、その分野で広く引用されている論文を含むか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2560320"/>
            <a:ext cx="201168" cy="201168"/>
          </a:xfrm>
          <a:prstGeom prst="ellipse">
            <a:avLst/>
          </a:prstGeom>
          <a:solidFill>
            <a:srgbClr val="2E7D5B"/>
          </a:solidFill>
          <a:ln w="12700">
            <a:solidFill>
              <a:srgbClr val="2E7D5B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77240" y="2487168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□ 直近 1〜2 年の文献を入れたか。古典・データ原典を残したか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2962656"/>
            <a:ext cx="201168" cy="201168"/>
          </a:xfrm>
          <a:prstGeom prst="ellipse">
            <a:avLst/>
          </a:prstGeom>
          <a:solidFill>
            <a:srgbClr val="0F4C5C"/>
          </a:solidFill>
          <a:ln w="12700">
            <a:solidFill>
              <a:srgbClr val="0F4C5C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77240" y="2889504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□ 要旨に「目的・方法・結果（数値）・結論」が全部あり、規定の 85–100% を使っているか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57200" y="3364992"/>
            <a:ext cx="201168" cy="201168"/>
          </a:xfrm>
          <a:prstGeom prst="ellipse">
            <a:avLst/>
          </a:prstGeom>
          <a:solidFill>
            <a:srgbClr val="0F4C5C"/>
          </a:solidFill>
          <a:ln w="12700">
            <a:solidFill>
              <a:srgbClr val="0F4C5C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77240" y="329184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□ 題名は短く一般形か（通るための整え。引用増の期待はしない）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57200" y="3767328"/>
            <a:ext cx="201168" cy="201168"/>
          </a:xfrm>
          <a:prstGeom prst="ellipse">
            <a:avLst/>
          </a:prstGeom>
          <a:solidFill>
            <a:srgbClr val="B54A3C"/>
          </a:solidFill>
          <a:ln w="12700">
            <a:solidFill>
              <a:srgbClr val="B54A3C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77240" y="3694176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□ delve／intricate／pivotal／showcase／underscore／meticulous を自分の言葉に直したか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57200" y="4169664"/>
            <a:ext cx="201168" cy="201168"/>
          </a:xfrm>
          <a:prstGeom prst="ellipse">
            <a:avLst/>
          </a:prstGeom>
          <a:solidFill>
            <a:srgbClr val="0F4C5C"/>
          </a:solidFill>
          <a:ln w="12700">
            <a:solidFill>
              <a:srgbClr val="0F4C5C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77240" y="4096512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□ 共同研究者に読んでもらったか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457200" y="45262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7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緑＝引用に効く（ルール）　青＝雑誌に通るための整え（入場券）　赤＝AI 時代の新しい注意点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67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読むときの注意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F2A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注意：これは「関係」であって「原因」ではない — ゲーミングは推奨しない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97A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評価の高い論文の書き方 — データが教える「本当」と「都市伝説」｜AIx{} 浦木・高橋研究室｜2026-08-31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3977640" cy="3108960"/>
          </a:xfrm>
          <a:prstGeom prst="roundRect">
            <a:avLst>
              <a:gd name="adj" fmla="val 2353"/>
            </a:avLst>
          </a:prstGeom>
          <a:solidFill>
            <a:srgbClr val="FDECEA"/>
          </a:solidFill>
          <a:ln w="12700">
            <a:solidFill>
              <a:srgbClr val="FDECE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21792" y="1389888"/>
            <a:ext cx="36484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54A3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してはいけないこと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621792" y="1783080"/>
            <a:ext cx="3648456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・引用の水増し（関係ない文献・自己引用を増やす）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・要旨をわざと難しく書く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・古典を削って「新しさ」の数字だけ作る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どれも「よく調べ、よく繋いだ論文」の代理指標を偽装する行為。指標は動いても、読者と査読者には見抜かれる。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709160" y="1280160"/>
            <a:ext cx="3977640" cy="3108960"/>
          </a:xfrm>
          <a:prstGeom prst="roundRect">
            <a:avLst>
              <a:gd name="adj" fmla="val 2353"/>
            </a:avLst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873752" y="1389888"/>
            <a:ext cx="36484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4C5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この分析の限界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4873752" y="1783080"/>
            <a:ext cx="3648456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・3 誌（データベース系）・2018〜2023 年。他分野では違う可能性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・効果は「小さいが明確」（δ≈0.3）。引用数の大半は内容で決まる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・雑誌を固定したので、題名・要旨の「通るための効果」は測れていない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・AI 執筆の分析は 2023 年 1 年分のみ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次回（E2）：10〜15 誌・分野横断・2024〜25 年追加・雑誌の格をまたいだ比較で確かめる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67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フィードバックのお願い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F2A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岡先生・武藤先生にご意見をいただきたい点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97A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評価の高い論文の書き方 — データが教える「本当」と「都市伝説」｜AIx{} 浦木・高橋研究室｜2026-08-31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8229600" cy="548640"/>
          </a:xfrm>
          <a:prstGeom prst="roundRect">
            <a:avLst>
              <a:gd name="adj" fmla="val 10000"/>
            </a:avLst>
          </a:prstGeom>
          <a:solidFill>
            <a:srgbClr val="FFF4E3"/>
          </a:solidFill>
          <a:ln w="12700">
            <a:solidFill>
              <a:srgbClr val="FFF4E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128016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A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① この「ルール 4 つ／都市伝説 6 つ」という整理は、学生指導の言い方として妥当か。言い過ぎ・言い足りない点は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57200" y="1920240"/>
            <a:ext cx="8229600" cy="548640"/>
          </a:xfrm>
          <a:prstGeom prst="roundRect">
            <a:avLst>
              <a:gd name="adj" fmla="val 10000"/>
            </a:avLst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0080" y="192024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A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② 「雑誌に通る要因」と「通った後に引用される要因」を分ける枠組みは、トップ誌の実感と合うか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57200" y="2560320"/>
            <a:ext cx="8229600" cy="548640"/>
          </a:xfrm>
          <a:prstGeom prst="roundRect">
            <a:avLst>
              <a:gd name="adj" fmla="val 10000"/>
            </a:avLst>
          </a:prstGeom>
          <a:solidFill>
            <a:srgbClr val="FFF4E3"/>
          </a:solidFill>
          <a:ln w="12700">
            <a:solidFill>
              <a:srgbClr val="FFF4E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0080" y="256032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A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③ 調べ方（雑誌・年を固定して上位 10% と下位 25% を比べる、効果量 δ で判断）は妥当か。引用の窓 3 年以上、閾値 0.147 は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57200" y="3200400"/>
            <a:ext cx="8229600" cy="548640"/>
          </a:xfrm>
          <a:prstGeom prst="roundRect">
            <a:avLst>
              <a:gd name="adj" fmla="val 10000"/>
            </a:avLst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40080" y="320040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A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④ 次に調べるべきこと：図表の数・章立て・共著ネットワーク・最終著者の投稿歴など、追加分析の候補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457200" y="3840480"/>
            <a:ext cx="8229600" cy="548640"/>
          </a:xfrm>
          <a:prstGeom prst="roundRect">
            <a:avLst>
              <a:gd name="adj" fmla="val 10000"/>
            </a:avLst>
          </a:prstGeom>
          <a:solidFill>
            <a:srgbClr val="FFF4E3"/>
          </a:solidFill>
          <a:ln w="12700">
            <a:solidFill>
              <a:srgbClr val="FFF4E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40080" y="384048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A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⑤ この結果を Scientometrics 系の雑誌に出す場合、主張をどこまで絞るべきか</a:t>
            </a:r>
            <a:endParaRPr lang="en-US" sz="12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67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付録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F2A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付録：データと方法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97A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評価の高い論文の書き方 — データが教える「本当」と「都市伝説」｜AIx{} 浦木・高橋研究室｜2026-08-31</a:t>
            </a:r>
            <a:endParaRPr lang="en-US" sz="8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822960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6766560"/>
              </a:tblGrid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項目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内容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データ源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OpenAlex（無料・CC0・API キー認証）。論文メタデータ・参考文献・著者 ID を自動取得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対象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IEEE TKDE（1,200 本）・PVLDB（1,200 本）・Data Mining and Knowledge Discovery（414 本）。2018–2023 年、各雑誌×年の被引用上位 200 本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グループ分け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雑誌×年の中で被引用のパーセンタイル：上位 10%＝252 本／下位 25%＝705 本（上位 1% は 30 本のみで分析対象外）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比べた特徴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題名（語数・コロン・疑問形・限定表現）／要旨（語数・可読性・構成要素・数値結果）／参考文献（本数・5 年以内比率・引用先の被引用・年代幅）／筆頭著者の投稿歴 10 年／AI 特有語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統計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Mann–Whitney U 検定＋Cliff's δ（効果量）。|δ|≥0.147 を「差あり」の基準（p 値だけでは判断しない）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再現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github.com/aix-sc/research-lifecycle-guide の scripts/paper-structure-analyzer（Python 3.9+・標準ライブラリのみ・8 ステップ）。詳細レポート：docs/PaperAnatomy_HighCitation_Patterns_JA.md v4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2026-08-31T11:20:19Z</dcterms:created>
  <dcterms:modified xsi:type="dcterms:W3CDTF">2026-08-31T11:20:19Z</dcterms:modified>
</cp:coreProperties>
</file>